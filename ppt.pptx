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85" r:id="rId2"/>
    <p:sldId id="289" r:id="rId3"/>
    <p:sldId id="256" r:id="rId4"/>
    <p:sldId id="257" r:id="rId5"/>
    <p:sldId id="293" r:id="rId6"/>
    <p:sldId id="258" r:id="rId7"/>
    <p:sldId id="294" r:id="rId8"/>
    <p:sldId id="292" r:id="rId9"/>
    <p:sldId id="295" r:id="rId10"/>
    <p:sldId id="260" r:id="rId11"/>
    <p:sldId id="296" r:id="rId12"/>
    <p:sldId id="262" r:id="rId13"/>
    <p:sldId id="263" r:id="rId14"/>
    <p:sldId id="265" r:id="rId15"/>
    <p:sldId id="264" r:id="rId16"/>
  </p:sldIdLst>
  <p:sldSz cx="18288000" cy="10287000"/>
  <p:notesSz cx="6858000" cy="9144000"/>
  <p:embeddedFontLst>
    <p:embeddedFont>
      <p:font typeface="Arial Unicode MS" panose="020B0604020202020204" charset="-128"/>
      <p:regular r:id="rId18"/>
    </p:embeddedFont>
    <p:embeddedFont>
      <p:font typeface="Sniglet"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3CB172-2C1F-B917-1F17-E96B92B80938}" v="502" dt="2025-11-10T06:08:38.0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48"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C9E72A-D4E5-47CC-871A-FE99A0F5827E}" type="datetimeFigureOut">
              <a:rPr lang="en-IN" smtClean="0"/>
              <a:t>15-05-2026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4DDEEB-D74F-4E29-9CD6-28932FB1B5FB}" type="slidenum">
              <a:rPr lang="en-IN" smtClean="0"/>
              <a:t>‹#›</a:t>
            </a:fld>
            <a:endParaRPr lang="en-IN"/>
          </a:p>
        </p:txBody>
      </p:sp>
    </p:spTree>
    <p:extLst>
      <p:ext uri="{BB962C8B-B14F-4D97-AF65-F5344CB8AC3E}">
        <p14:creationId xmlns:p14="http://schemas.microsoft.com/office/powerpoint/2010/main" val="3648872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68D10-52FC-614F-89A5-4F793BEFE8EF}"/>
              </a:ext>
            </a:extLst>
          </p:cNvPr>
          <p:cNvSpPr>
            <a:spLocks noGrp="1"/>
          </p:cNvSpPr>
          <p:nvPr>
            <p:ph type="title" idx="4294967295"/>
          </p:nvPr>
        </p:nvSpPr>
        <p:spPr>
          <a:xfrm>
            <a:off x="2603500" y="445295"/>
            <a:ext cx="15506699" cy="2907506"/>
          </a:xfrm>
        </p:spPr>
        <p:txBody>
          <a:bodyPr/>
          <a:lstStyle/>
          <a:p>
            <a:r>
              <a:rPr lang="en-US" sz="3000" b="1" u="sng" dirty="0">
                <a:latin typeface="Times New Roman" panose="02020603050405020304" pitchFamily="18" charset="0"/>
                <a:cs typeface="Times New Roman" panose="02020603050405020304" pitchFamily="18" charset="0"/>
              </a:rPr>
              <a:t>KAKATIYA INSTITUTE OF TECHNOLOGY &amp; SCIENCE,WARANGAL</a:t>
            </a:r>
            <a:br>
              <a:rPr lang="en-US" sz="3000" b="1" u="sng"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a:t>
            </a:r>
            <a:r>
              <a:rPr lang="en-US" sz="3000" i="1" dirty="0">
                <a:latin typeface="Times New Roman" panose="02020603050405020304" pitchFamily="18" charset="0"/>
                <a:cs typeface="Times New Roman" panose="02020603050405020304" pitchFamily="18" charset="0"/>
              </a:rPr>
              <a:t>An AUTONOMOUS Institute under </a:t>
            </a:r>
            <a:r>
              <a:rPr lang="en-US" sz="3000" dirty="0">
                <a:latin typeface="Times New Roman" panose="02020603050405020304" pitchFamily="18" charset="0"/>
                <a:cs typeface="Times New Roman" panose="02020603050405020304" pitchFamily="18" charset="0"/>
              </a:rPr>
              <a:t>KAKATIYA UNIVERSITY </a:t>
            </a:r>
            <a:r>
              <a:rPr lang="en-US" sz="3000" i="1" dirty="0">
                <a:latin typeface="Times New Roman" panose="02020603050405020304" pitchFamily="18" charset="0"/>
                <a:cs typeface="Times New Roman" panose="02020603050405020304" pitchFamily="18" charset="0"/>
              </a:rPr>
              <a:t>– Warangal</a:t>
            </a:r>
            <a:r>
              <a:rPr lang="en-US" sz="3000" dirty="0">
                <a:latin typeface="Times New Roman" panose="02020603050405020304" pitchFamily="18" charset="0"/>
                <a:cs typeface="Times New Roman" panose="02020603050405020304" pitchFamily="18" charset="0"/>
              </a:rPr>
              <a:t>)</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Opp :Yerragattu Gutta, Hasanparthy,Warangal-506015, Telangana, INDIA.</a:t>
            </a:r>
            <a:br>
              <a:rPr lang="en-US" sz="3000" dirty="0">
                <a:latin typeface="Times New Roman" panose="02020603050405020304" pitchFamily="18" charset="0"/>
                <a:cs typeface="Times New Roman" panose="02020603050405020304" pitchFamily="18" charset="0"/>
              </a:rPr>
            </a:b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         </a:t>
            </a:r>
            <a:r>
              <a:rPr lang="en-US" sz="3000" b="1" dirty="0">
                <a:latin typeface="Times New Roman" panose="02020603050405020304" pitchFamily="18" charset="0"/>
                <a:cs typeface="Times New Roman" panose="02020603050405020304" pitchFamily="18" charset="0"/>
              </a:rPr>
              <a:t>DEPARTMENT OF COMPUTER SCIENCE &amp; ENGINEERING(NETWORKS)</a:t>
            </a:r>
            <a:br>
              <a:rPr lang="en-US" sz="3000" b="1" dirty="0">
                <a:latin typeface="Times New Roman" panose="02020603050405020304" pitchFamily="18" charset="0"/>
                <a:cs typeface="Times New Roman" panose="02020603050405020304" pitchFamily="18" charset="0"/>
              </a:rPr>
            </a:br>
            <a:endParaRPr lang="en-US" sz="3000" dirty="0"/>
          </a:p>
        </p:txBody>
      </p:sp>
      <p:sp>
        <p:nvSpPr>
          <p:cNvPr id="11" name="Text Placeholder 10">
            <a:extLst>
              <a:ext uri="{FF2B5EF4-FFF2-40B4-BE49-F238E27FC236}">
                <a16:creationId xmlns:a16="http://schemas.microsoft.com/office/drawing/2014/main" id="{15C5FD85-E72E-D48C-0D76-91EA628295DE}"/>
              </a:ext>
            </a:extLst>
          </p:cNvPr>
          <p:cNvSpPr>
            <a:spLocks noGrp="1"/>
          </p:cNvSpPr>
          <p:nvPr>
            <p:ph type="body" idx="4294967295"/>
          </p:nvPr>
        </p:nvSpPr>
        <p:spPr>
          <a:xfrm>
            <a:off x="1041401" y="3892550"/>
            <a:ext cx="16573500" cy="2262156"/>
          </a:xfrm>
        </p:spPr>
        <p:txBody>
          <a:bodyPr vert="horz" lIns="91440" tIns="45720" rIns="91440" bIns="45720" rtlCol="0" anchor="t">
            <a:normAutofit fontScale="92500"/>
          </a:bodyPr>
          <a:lstStyle/>
          <a:p>
            <a:pPr marL="0" indent="0" algn="ctr">
              <a:buNone/>
            </a:pPr>
            <a:r>
              <a:rPr lang="en-US" altLang="zh-CN" sz="3600" b="1" dirty="0">
                <a:latin typeface="Times New Roman"/>
                <a:ea typeface="宋体"/>
                <a:cs typeface="Times New Roman"/>
              </a:rPr>
              <a:t>TITLE : </a:t>
            </a:r>
            <a:r>
              <a:rPr lang="en-US" sz="3600" b="1" dirty="0"/>
              <a:t>Privacy-Preserving Data Sharing in Multi-Cloud using </a:t>
            </a:r>
            <a:r>
              <a:rPr lang="en-US" sz="3600" b="1" dirty="0" err="1"/>
              <a:t>Homomorphic</a:t>
            </a:r>
            <a:r>
              <a:rPr lang="en-US" sz="3600" b="1" dirty="0"/>
              <a:t> Encryption</a:t>
            </a:r>
            <a:r>
              <a:rPr lang="en-US" altLang="zh-CN" sz="3600" b="1" dirty="0">
                <a:latin typeface="Times New Roman"/>
                <a:ea typeface="宋体"/>
                <a:cs typeface="Times New Roman"/>
              </a:rPr>
              <a:t> </a:t>
            </a:r>
          </a:p>
          <a:p>
            <a:pPr marL="0" indent="0" algn="ctr">
              <a:buNone/>
            </a:pPr>
            <a:r>
              <a:rPr lang="en-US" altLang="zh-CN" sz="3600" b="1" dirty="0">
                <a:latin typeface="Times New Roman"/>
                <a:ea typeface="宋体"/>
                <a:cs typeface="Times New Roman"/>
              </a:rPr>
              <a:t>8CSN1B5   </a:t>
            </a:r>
          </a:p>
          <a:p>
            <a:pPr marL="0" indent="0" algn="ctr">
              <a:buNone/>
            </a:pPr>
            <a:r>
              <a:rPr lang="en-US" altLang="zh-CN" sz="3600" b="1"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p:txBody>
      </p:sp>
      <p:pic>
        <p:nvPicPr>
          <p:cNvPr id="5" name="Picture 4" descr="1bb1b448-eb7d-4cb3-9254-b7bb410aaaa9">
            <a:extLst>
              <a:ext uri="{FF2B5EF4-FFF2-40B4-BE49-F238E27FC236}">
                <a16:creationId xmlns:a16="http://schemas.microsoft.com/office/drawing/2014/main" id="{3B439DF7-BD93-9D6C-23A7-5C5B3C359E3D}"/>
              </a:ext>
            </a:extLst>
          </p:cNvPr>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3750" y="445295"/>
            <a:ext cx="2543058" cy="2262156"/>
          </a:xfrm>
          <a:prstGeom prst="rect">
            <a:avLst/>
          </a:prstGeom>
          <a:noFill/>
          <a:effectLst>
            <a:softEdge rad="0"/>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7435E17-6BF5-EEE6-FC3E-8D33533CB1D0}"/>
              </a:ext>
            </a:extLst>
          </p:cNvPr>
          <p:cNvSpPr txBox="1"/>
          <p:nvPr/>
        </p:nvSpPr>
        <p:spPr>
          <a:xfrm>
            <a:off x="8451848" y="9568598"/>
            <a:ext cx="1905000" cy="369332"/>
          </a:xfrm>
          <a:prstGeom prst="rect">
            <a:avLst/>
          </a:prstGeom>
          <a:noFill/>
        </p:spPr>
        <p:txBody>
          <a:bodyPr wrap="square" rtlCol="0">
            <a:spAutoFit/>
          </a:bodyPr>
          <a:lstStyle/>
          <a:p>
            <a:r>
              <a:rPr lang="en-IN" dirty="0"/>
              <a:t>Major project</a:t>
            </a:r>
          </a:p>
        </p:txBody>
      </p:sp>
      <p:sp>
        <p:nvSpPr>
          <p:cNvPr id="7" name="TextBox 6">
            <a:extLst>
              <a:ext uri="{FF2B5EF4-FFF2-40B4-BE49-F238E27FC236}">
                <a16:creationId xmlns:a16="http://schemas.microsoft.com/office/drawing/2014/main" id="{897C2809-CB84-0452-3217-A1A14BFCECA6}"/>
              </a:ext>
            </a:extLst>
          </p:cNvPr>
          <p:cNvSpPr txBox="1"/>
          <p:nvPr/>
        </p:nvSpPr>
        <p:spPr>
          <a:xfrm>
            <a:off x="1022351" y="5055106"/>
            <a:ext cx="7302498" cy="1015663"/>
          </a:xfrm>
          <a:prstGeom prst="rect">
            <a:avLst/>
          </a:prstGeom>
          <a:noFill/>
        </p:spPr>
        <p:txBody>
          <a:bodyPr wrap="square" rtlCol="0">
            <a:spAutoFit/>
          </a:bodyPr>
          <a:lstStyle/>
          <a:p>
            <a:r>
              <a:rPr lang="en-IN" sz="3000" dirty="0">
                <a:latin typeface="Times New Roman" panose="02020603050405020304" pitchFamily="18" charset="0"/>
                <a:cs typeface="Times New Roman" panose="02020603050405020304" pitchFamily="18" charset="0"/>
              </a:rPr>
              <a:t>Team members –</a:t>
            </a:r>
          </a:p>
          <a:p>
            <a:r>
              <a:rPr lang="en-IN" sz="3000" dirty="0">
                <a:latin typeface="Times New Roman" panose="02020603050405020304" pitchFamily="18" charset="0"/>
                <a:cs typeface="Times New Roman" panose="02020603050405020304" pitchFamily="18" charset="0"/>
              </a:rPr>
              <a:t>       </a:t>
            </a:r>
          </a:p>
        </p:txBody>
      </p:sp>
      <p:sp>
        <p:nvSpPr>
          <p:cNvPr id="8" name="TextBox 7">
            <a:extLst>
              <a:ext uri="{FF2B5EF4-FFF2-40B4-BE49-F238E27FC236}">
                <a16:creationId xmlns:a16="http://schemas.microsoft.com/office/drawing/2014/main" id="{FBC96FA0-F583-89C0-9D1F-0799B1213D54}"/>
              </a:ext>
            </a:extLst>
          </p:cNvPr>
          <p:cNvSpPr txBox="1"/>
          <p:nvPr/>
        </p:nvSpPr>
        <p:spPr>
          <a:xfrm>
            <a:off x="12496800" y="7044830"/>
            <a:ext cx="6019800" cy="2523768"/>
          </a:xfrm>
          <a:prstGeom prst="rect">
            <a:avLst/>
          </a:prstGeom>
          <a:noFill/>
        </p:spPr>
        <p:txBody>
          <a:bodyPr wrap="square" lIns="91440" tIns="45720" rIns="91440" bIns="45720" rtlCol="0" anchor="t">
            <a:spAutoFit/>
          </a:bodyPr>
          <a:lstStyle/>
          <a:p>
            <a:r>
              <a:rPr lang="en-IN" sz="3200" dirty="0"/>
              <a:t>Supervisor:</a:t>
            </a:r>
          </a:p>
          <a:p>
            <a:r>
              <a:rPr lang="en-IN" sz="3200" dirty="0" err="1"/>
              <a:t>Dr.R.Naveen</a:t>
            </a:r>
            <a:r>
              <a:rPr lang="en-IN" sz="3200" dirty="0"/>
              <a:t> Kumar</a:t>
            </a:r>
          </a:p>
          <a:p>
            <a:r>
              <a:rPr lang="en-IN" sz="3200" dirty="0" err="1"/>
              <a:t>Asst.Professor</a:t>
            </a:r>
            <a:endParaRPr lang="en-IN" sz="3200" dirty="0"/>
          </a:p>
          <a:p>
            <a:r>
              <a:rPr lang="en-IN" sz="3200" dirty="0"/>
              <a:t>Dept. CSN</a:t>
            </a:r>
          </a:p>
          <a:p>
            <a:endParaRPr lang="en-IN" sz="3000" u="sng"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DB199E7-40E9-56E6-289F-4FFD42DBF7C2}"/>
              </a:ext>
            </a:extLst>
          </p:cNvPr>
          <p:cNvSpPr txBox="1"/>
          <p:nvPr/>
        </p:nvSpPr>
        <p:spPr>
          <a:xfrm>
            <a:off x="7315200" y="3245532"/>
            <a:ext cx="3238502" cy="553998"/>
          </a:xfrm>
          <a:prstGeom prst="rect">
            <a:avLst/>
          </a:prstGeom>
          <a:noFill/>
        </p:spPr>
        <p:txBody>
          <a:bodyPr wrap="square" rtlCol="0">
            <a:spAutoFit/>
          </a:bodyPr>
          <a:lstStyle/>
          <a:p>
            <a:r>
              <a:rPr lang="en-IN" sz="3000" b="1" u="sng" dirty="0">
                <a:latin typeface="Times New Roman" panose="02020603050405020304" pitchFamily="18" charset="0"/>
                <a:cs typeface="Times New Roman" panose="02020603050405020304" pitchFamily="18" charset="0"/>
              </a:rPr>
              <a:t> Major Project</a:t>
            </a:r>
            <a:endParaRPr lang="en-IN" sz="3000" dirty="0"/>
          </a:p>
        </p:txBody>
      </p:sp>
      <p:graphicFrame>
        <p:nvGraphicFramePr>
          <p:cNvPr id="4" name="Table 3">
            <a:extLst>
              <a:ext uri="{FF2B5EF4-FFF2-40B4-BE49-F238E27FC236}">
                <a16:creationId xmlns:a16="http://schemas.microsoft.com/office/drawing/2014/main" id="{1873F50B-36F6-B458-6AC6-C95AA274483F}"/>
              </a:ext>
            </a:extLst>
          </p:cNvPr>
          <p:cNvGraphicFramePr>
            <a:graphicFrameLocks noGrp="1"/>
          </p:cNvGraphicFramePr>
          <p:nvPr>
            <p:extLst>
              <p:ext uri="{D42A27DB-BD31-4B8C-83A1-F6EECF244321}">
                <p14:modId xmlns:p14="http://schemas.microsoft.com/office/powerpoint/2010/main" val="870341586"/>
              </p:ext>
            </p:extLst>
          </p:nvPr>
        </p:nvGraphicFramePr>
        <p:xfrm>
          <a:off x="1060451" y="5753100"/>
          <a:ext cx="5867400" cy="3478265"/>
        </p:xfrm>
        <a:graphic>
          <a:graphicData uri="http://schemas.openxmlformats.org/drawingml/2006/table">
            <a:tbl>
              <a:tblPr firstRow="1" bandRow="1">
                <a:tableStyleId>{00A15C55-8517-42AA-B614-E9B94910E393}</a:tableStyleId>
              </a:tblPr>
              <a:tblGrid>
                <a:gridCol w="2920999">
                  <a:extLst>
                    <a:ext uri="{9D8B030D-6E8A-4147-A177-3AD203B41FA5}">
                      <a16:colId xmlns:a16="http://schemas.microsoft.com/office/drawing/2014/main" val="2944172696"/>
                    </a:ext>
                  </a:extLst>
                </a:gridCol>
                <a:gridCol w="2946401">
                  <a:extLst>
                    <a:ext uri="{9D8B030D-6E8A-4147-A177-3AD203B41FA5}">
                      <a16:colId xmlns:a16="http://schemas.microsoft.com/office/drawing/2014/main" val="2472708997"/>
                    </a:ext>
                  </a:extLst>
                </a:gridCol>
              </a:tblGrid>
              <a:tr h="609600">
                <a:tc>
                  <a:txBody>
                    <a:bodyPr/>
                    <a:lstStyle/>
                    <a:p>
                      <a:r>
                        <a:rPr lang="en-IN" sz="2800" dirty="0">
                          <a:solidFill>
                            <a:schemeClr val="tx1"/>
                          </a:solidFill>
                        </a:rPr>
                        <a:t>B22CN046</a:t>
                      </a:r>
                    </a:p>
                  </a:txBody>
                  <a:tcPr marL="137160" marR="137160" marT="68580" marB="68580">
                    <a:solidFill>
                      <a:schemeClr val="tx2">
                        <a:lumMod val="20000"/>
                        <a:lumOff val="80000"/>
                      </a:schemeClr>
                    </a:solidFill>
                  </a:tcPr>
                </a:tc>
                <a:tc>
                  <a:txBody>
                    <a:bodyPr/>
                    <a:lstStyle/>
                    <a:p>
                      <a:r>
                        <a:rPr lang="en-IN" sz="2800" dirty="0" err="1">
                          <a:solidFill>
                            <a:schemeClr val="tx1"/>
                          </a:solidFill>
                        </a:rPr>
                        <a:t>T.Sai</a:t>
                      </a:r>
                      <a:r>
                        <a:rPr lang="en-IN" sz="2800" dirty="0">
                          <a:solidFill>
                            <a:schemeClr val="tx1"/>
                          </a:solidFill>
                        </a:rPr>
                        <a:t> </a:t>
                      </a:r>
                      <a:r>
                        <a:rPr lang="en-IN" sz="2800" dirty="0" err="1">
                          <a:solidFill>
                            <a:schemeClr val="tx1"/>
                          </a:solidFill>
                        </a:rPr>
                        <a:t>Charan</a:t>
                      </a:r>
                      <a:endParaRPr lang="en-IN" sz="2800" dirty="0">
                        <a:solidFill>
                          <a:schemeClr val="tx1"/>
                        </a:solidFill>
                      </a:endParaRPr>
                    </a:p>
                  </a:txBody>
                  <a:tcPr marL="137160" marR="137160" marT="68580" marB="68580">
                    <a:solidFill>
                      <a:schemeClr val="tx2">
                        <a:lumMod val="20000"/>
                        <a:lumOff val="80000"/>
                      </a:schemeClr>
                    </a:solidFill>
                  </a:tcPr>
                </a:tc>
                <a:extLst>
                  <a:ext uri="{0D108BD9-81ED-4DB2-BD59-A6C34878D82A}">
                    <a16:rowId xmlns:a16="http://schemas.microsoft.com/office/drawing/2014/main" val="3231609468"/>
                  </a:ext>
                </a:extLst>
              </a:tr>
              <a:tr h="5117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800" b="1" dirty="0">
                          <a:solidFill>
                            <a:schemeClr val="tx1"/>
                          </a:solidFill>
                        </a:rPr>
                        <a:t>B22CN020</a:t>
                      </a:r>
                    </a:p>
                  </a:txBody>
                  <a:tcPr marL="137160" marR="137160" marT="68580" marB="68580"/>
                </a:tc>
                <a:tc>
                  <a:txBody>
                    <a:bodyPr/>
                    <a:lstStyle/>
                    <a:p>
                      <a:r>
                        <a:rPr lang="en-IN" sz="2800" b="1" dirty="0" err="1"/>
                        <a:t>D.UmaMahesh</a:t>
                      </a:r>
                      <a:endParaRPr lang="en-IN" sz="2800" b="1" dirty="0"/>
                    </a:p>
                  </a:txBody>
                  <a:tcPr marL="137160" marR="137160" marT="68580" marB="68580"/>
                </a:tc>
                <a:extLst>
                  <a:ext uri="{0D108BD9-81ED-4DB2-BD59-A6C34878D82A}">
                    <a16:rowId xmlns:a16="http://schemas.microsoft.com/office/drawing/2014/main" val="1835497798"/>
                  </a:ext>
                </a:extLst>
              </a:tr>
              <a:tr h="5117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800" b="1" dirty="0">
                          <a:solidFill>
                            <a:schemeClr val="tx1"/>
                          </a:solidFill>
                        </a:rPr>
                        <a:t>B22CN036</a:t>
                      </a:r>
                    </a:p>
                  </a:txBody>
                  <a:tcPr marL="137160" marR="137160" marT="68580" marB="68580"/>
                </a:tc>
                <a:tc>
                  <a:txBody>
                    <a:bodyPr/>
                    <a:lstStyle/>
                    <a:p>
                      <a:r>
                        <a:rPr lang="en-IN" sz="2800" b="1" dirty="0" err="1"/>
                        <a:t>K.Manideep</a:t>
                      </a:r>
                      <a:endParaRPr lang="en-IN" sz="2800" b="1" dirty="0"/>
                    </a:p>
                  </a:txBody>
                  <a:tcPr marL="137160" marR="137160" marT="68580" marB="68580"/>
                </a:tc>
                <a:extLst>
                  <a:ext uri="{0D108BD9-81ED-4DB2-BD59-A6C34878D82A}">
                    <a16:rowId xmlns:a16="http://schemas.microsoft.com/office/drawing/2014/main" val="1607661839"/>
                  </a:ext>
                </a:extLst>
              </a:tr>
              <a:tr h="5117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800" b="1" dirty="0">
                          <a:solidFill>
                            <a:schemeClr val="tx1"/>
                          </a:solidFill>
                        </a:rPr>
                        <a:t>B23CN133L</a:t>
                      </a:r>
                    </a:p>
                  </a:txBody>
                  <a:tcPr marL="137160" marR="137160" marT="68580" marB="68580"/>
                </a:tc>
                <a:tc>
                  <a:txBody>
                    <a:bodyPr/>
                    <a:lstStyle/>
                    <a:p>
                      <a:r>
                        <a:rPr lang="en-IN" sz="2800" b="1" dirty="0" err="1"/>
                        <a:t>B.Narendar</a:t>
                      </a:r>
                      <a:endParaRPr lang="en-IN" sz="2800" b="1" dirty="0"/>
                    </a:p>
                  </a:txBody>
                  <a:tcPr marL="137160" marR="137160" marT="68580" marB="68580"/>
                </a:tc>
                <a:extLst>
                  <a:ext uri="{0D108BD9-81ED-4DB2-BD59-A6C34878D82A}">
                    <a16:rowId xmlns:a16="http://schemas.microsoft.com/office/drawing/2014/main" val="10003"/>
                  </a:ext>
                </a:extLst>
              </a:tr>
              <a:tr h="61314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800" b="1" dirty="0">
                          <a:solidFill>
                            <a:schemeClr val="tx1"/>
                          </a:solidFill>
                        </a:rPr>
                        <a:t>B22CN004</a:t>
                      </a:r>
                    </a:p>
                  </a:txBody>
                  <a:tcPr marL="137160" marR="137160" marT="68580" marB="68580"/>
                </a:tc>
                <a:tc>
                  <a:txBody>
                    <a:bodyPr/>
                    <a:lstStyle/>
                    <a:p>
                      <a:r>
                        <a:rPr lang="en-IN" sz="2800" b="1" dirty="0" err="1"/>
                        <a:t>P.Nikhil</a:t>
                      </a:r>
                      <a:endParaRPr lang="en-IN" sz="2800" b="1" dirty="0"/>
                    </a:p>
                  </a:txBody>
                  <a:tcPr marL="137160" marR="137160" marT="68580" marB="68580"/>
                </a:tc>
                <a:extLst>
                  <a:ext uri="{0D108BD9-81ED-4DB2-BD59-A6C34878D82A}">
                    <a16:rowId xmlns:a16="http://schemas.microsoft.com/office/drawing/2014/main" val="3706800296"/>
                  </a:ext>
                </a:extLst>
              </a:tr>
              <a:tr h="5334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800" b="1" dirty="0">
                          <a:solidFill>
                            <a:schemeClr val="tx1"/>
                          </a:solidFill>
                        </a:rPr>
                        <a:t>B21CN050</a:t>
                      </a:r>
                    </a:p>
                  </a:txBody>
                  <a:tcPr marL="137160" marR="137160" marT="68580" marB="68580"/>
                </a:tc>
                <a:tc>
                  <a:txBody>
                    <a:bodyPr/>
                    <a:lstStyle/>
                    <a:p>
                      <a:r>
                        <a:rPr lang="en-IN" sz="2800" b="1" dirty="0" err="1"/>
                        <a:t>V.Abhinay</a:t>
                      </a:r>
                      <a:endParaRPr lang="en-IN" sz="2800" b="1" dirty="0"/>
                    </a:p>
                  </a:txBody>
                  <a:tcPr marL="137160" marR="137160" marT="68580" marB="68580"/>
                </a:tc>
                <a:extLst>
                  <a:ext uri="{0D108BD9-81ED-4DB2-BD59-A6C34878D82A}">
                    <a16:rowId xmlns:a16="http://schemas.microsoft.com/office/drawing/2014/main" val="3381440920"/>
                  </a:ext>
                </a:extLst>
              </a:tr>
            </a:tbl>
          </a:graphicData>
        </a:graphic>
      </p:graphicFrame>
    </p:spTree>
    <p:extLst>
      <p:ext uri="{BB962C8B-B14F-4D97-AF65-F5344CB8AC3E}">
        <p14:creationId xmlns:p14="http://schemas.microsoft.com/office/powerpoint/2010/main" val="3752263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59D2E8F8-30A6-9C5E-E485-3A075E9E462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24D5755-97CA-78B0-6E3F-33AA897A872A}"/>
              </a:ext>
            </a:extLst>
          </p:cNvPr>
          <p:cNvGrpSpPr/>
          <p:nvPr/>
        </p:nvGrpSpPr>
        <p:grpSpPr>
          <a:xfrm>
            <a:off x="515733" y="800100"/>
            <a:ext cx="17256534" cy="9053457"/>
            <a:chOff x="0" y="0"/>
            <a:chExt cx="4544931" cy="2384450"/>
          </a:xfrm>
        </p:grpSpPr>
        <p:sp>
          <p:nvSpPr>
            <p:cNvPr id="3" name="Freeform 3">
              <a:extLst>
                <a:ext uri="{FF2B5EF4-FFF2-40B4-BE49-F238E27FC236}">
                  <a16:creationId xmlns:a16="http://schemas.microsoft.com/office/drawing/2014/main" id="{FDF0AE82-0429-95B0-96DE-1005637EBA09}"/>
                </a:ext>
              </a:extLst>
            </p:cNvPr>
            <p:cNvSpPr/>
            <p:nvPr/>
          </p:nvSpPr>
          <p:spPr>
            <a:xfrm>
              <a:off x="0" y="0"/>
              <a:ext cx="4544931" cy="2384450"/>
            </a:xfrm>
            <a:custGeom>
              <a:avLst/>
              <a:gdLst/>
              <a:ahLst/>
              <a:cxnLst/>
              <a:rect l="l" t="t" r="r" b="b"/>
              <a:pathLst>
                <a:path w="4544931" h="2384450">
                  <a:moveTo>
                    <a:pt x="11216" y="0"/>
                  </a:moveTo>
                  <a:lnTo>
                    <a:pt x="4533715" y="0"/>
                  </a:lnTo>
                  <a:cubicBezTo>
                    <a:pt x="4539909" y="0"/>
                    <a:pt x="4544931" y="5022"/>
                    <a:pt x="4544931" y="11216"/>
                  </a:cubicBezTo>
                  <a:lnTo>
                    <a:pt x="4544931" y="2373234"/>
                  </a:lnTo>
                  <a:cubicBezTo>
                    <a:pt x="4544931" y="2376208"/>
                    <a:pt x="4543749" y="2379061"/>
                    <a:pt x="4541646" y="2381165"/>
                  </a:cubicBezTo>
                  <a:cubicBezTo>
                    <a:pt x="4539542" y="2383268"/>
                    <a:pt x="4536689" y="2384450"/>
                    <a:pt x="4533715" y="2384450"/>
                  </a:cubicBezTo>
                  <a:lnTo>
                    <a:pt x="11216" y="2384450"/>
                  </a:lnTo>
                  <a:cubicBezTo>
                    <a:pt x="5022" y="2384450"/>
                    <a:pt x="0" y="2379428"/>
                    <a:pt x="0" y="2373234"/>
                  </a:cubicBezTo>
                  <a:lnTo>
                    <a:pt x="0" y="11216"/>
                  </a:lnTo>
                  <a:cubicBezTo>
                    <a:pt x="0" y="5022"/>
                    <a:pt x="5022" y="0"/>
                    <a:pt x="11216" y="0"/>
                  </a:cubicBezTo>
                  <a:close/>
                </a:path>
              </a:pathLst>
            </a:custGeom>
            <a:solidFill>
              <a:srgbClr val="FFFFFF"/>
            </a:solidFill>
          </p:spPr>
        </p:sp>
        <p:sp>
          <p:nvSpPr>
            <p:cNvPr id="4" name="TextBox 4">
              <a:extLst>
                <a:ext uri="{FF2B5EF4-FFF2-40B4-BE49-F238E27FC236}">
                  <a16:creationId xmlns:a16="http://schemas.microsoft.com/office/drawing/2014/main" id="{70748927-CBAE-058B-1830-2C0F4530DB94}"/>
                </a:ext>
              </a:extLst>
            </p:cNvPr>
            <p:cNvSpPr txBox="1"/>
            <p:nvPr/>
          </p:nvSpPr>
          <p:spPr>
            <a:xfrm>
              <a:off x="0" y="-38100"/>
              <a:ext cx="4544931" cy="242255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a:extLst>
              <a:ext uri="{FF2B5EF4-FFF2-40B4-BE49-F238E27FC236}">
                <a16:creationId xmlns:a16="http://schemas.microsoft.com/office/drawing/2014/main" id="{6C0425DC-CFD8-765A-364D-759632E59174}"/>
              </a:ext>
            </a:extLst>
          </p:cNvPr>
          <p:cNvSpPr txBox="1"/>
          <p:nvPr/>
        </p:nvSpPr>
        <p:spPr>
          <a:xfrm>
            <a:off x="4267200" y="2476501"/>
            <a:ext cx="8839200" cy="7955511"/>
          </a:xfrm>
          <a:prstGeom prst="rect">
            <a:avLst/>
          </a:prstGeom>
        </p:spPr>
        <p:txBody>
          <a:bodyPr wrap="square" lIns="0" tIns="0" rIns="0" bIns="0" rtlCol="0" anchor="t">
            <a:spAutoFit/>
          </a:bodyPr>
          <a:lstStyle/>
          <a:p>
            <a:pPr marL="514350" lvl="0" indent="-514350" algn="just">
              <a:lnSpc>
                <a:spcPct val="150000"/>
              </a:lnSpc>
              <a:spcBef>
                <a:spcPct val="0"/>
              </a:spcBef>
              <a:buFont typeface="+mj-lt"/>
              <a:buAutoNum type="arabicPeriod"/>
            </a:pPr>
            <a:r>
              <a:rPr lang="en-US" sz="3200" dirty="0">
                <a:solidFill>
                  <a:srgbClr val="000000"/>
                </a:solidFill>
                <a:latin typeface="Times New Roman" panose="02020603050405020304" pitchFamily="18" charset="0"/>
                <a:ea typeface="Sniglet"/>
                <a:cs typeface="Times New Roman" panose="02020603050405020304" pitchFamily="18" charset="0"/>
                <a:sym typeface="Sniglet"/>
              </a:rPr>
              <a:t>Introduction</a:t>
            </a:r>
          </a:p>
          <a:p>
            <a:pPr marL="514350" lvl="0" indent="-514350" algn="just">
              <a:lnSpc>
                <a:spcPct val="150000"/>
              </a:lnSpc>
              <a:spcBef>
                <a:spcPct val="0"/>
              </a:spcBef>
              <a:buFont typeface="+mj-lt"/>
              <a:buAutoNum type="arabicPeriod"/>
            </a:pPr>
            <a:r>
              <a:rPr lang="en-US" sz="3200" dirty="0">
                <a:solidFill>
                  <a:srgbClr val="000000"/>
                </a:solidFill>
                <a:latin typeface="Times New Roman" panose="02020603050405020304" pitchFamily="18" charset="0"/>
                <a:ea typeface="Sniglet"/>
                <a:cs typeface="Times New Roman" panose="02020603050405020304" pitchFamily="18" charset="0"/>
                <a:sym typeface="Sniglet"/>
              </a:rPr>
              <a:t>Remarks of Stage-I Presentation</a:t>
            </a:r>
          </a:p>
          <a:p>
            <a:pPr marL="514350" lvl="0" indent="-514350" algn="just">
              <a:lnSpc>
                <a:spcPct val="150000"/>
              </a:lnSpc>
              <a:spcBef>
                <a:spcPct val="0"/>
              </a:spcBef>
              <a:buFont typeface="+mj-lt"/>
              <a:buAutoNum type="arabicPeriod"/>
            </a:pPr>
            <a:r>
              <a:rPr lang="en-US" sz="3200" dirty="0">
                <a:solidFill>
                  <a:srgbClr val="000000"/>
                </a:solidFill>
                <a:latin typeface="Times New Roman" panose="02020603050405020304" pitchFamily="18" charset="0"/>
                <a:ea typeface="Sniglet"/>
                <a:cs typeface="Times New Roman" panose="02020603050405020304" pitchFamily="18" charset="0"/>
                <a:sym typeface="Sniglet"/>
              </a:rPr>
              <a:t>Objective</a:t>
            </a:r>
          </a:p>
          <a:p>
            <a:pPr marL="514350" lvl="0" indent="-514350" algn="just">
              <a:lnSpc>
                <a:spcPct val="150000"/>
              </a:lnSpc>
              <a:spcBef>
                <a:spcPct val="0"/>
              </a:spcBef>
              <a:buFont typeface="+mj-lt"/>
              <a:buAutoNum type="arabicPeriod"/>
            </a:pPr>
            <a:r>
              <a:rPr lang="en-US" sz="3200" dirty="0">
                <a:solidFill>
                  <a:srgbClr val="000000"/>
                </a:solidFill>
                <a:latin typeface="Times New Roman" panose="02020603050405020304" pitchFamily="18" charset="0"/>
                <a:ea typeface="Sniglet"/>
                <a:cs typeface="Times New Roman" panose="02020603050405020304" pitchFamily="18" charset="0"/>
                <a:sym typeface="Sniglet"/>
              </a:rPr>
              <a:t>Proposed Methodology</a:t>
            </a:r>
          </a:p>
          <a:p>
            <a:pPr marL="514350" lvl="0" indent="-514350" algn="just">
              <a:lnSpc>
                <a:spcPct val="150000"/>
              </a:lnSpc>
              <a:spcBef>
                <a:spcPct val="0"/>
              </a:spcBef>
              <a:buFont typeface="+mj-lt"/>
              <a:buAutoNum type="arabicPeriod"/>
            </a:pPr>
            <a:r>
              <a:rPr lang="en-US" sz="3200" dirty="0">
                <a:solidFill>
                  <a:srgbClr val="000000"/>
                </a:solidFill>
                <a:latin typeface="Times New Roman" panose="02020603050405020304" pitchFamily="18" charset="0"/>
                <a:ea typeface="Sniglet"/>
                <a:cs typeface="Times New Roman" panose="02020603050405020304" pitchFamily="18" charset="0"/>
                <a:sym typeface="Sniglet"/>
              </a:rPr>
              <a:t>Experimental Work</a:t>
            </a:r>
          </a:p>
          <a:p>
            <a:pPr marL="514350" lvl="0" indent="-514350" algn="just">
              <a:lnSpc>
                <a:spcPct val="150000"/>
              </a:lnSpc>
              <a:spcBef>
                <a:spcPct val="0"/>
              </a:spcBef>
              <a:buFont typeface="+mj-lt"/>
              <a:buAutoNum type="arabicPeriod"/>
            </a:pPr>
            <a:r>
              <a:rPr lang="en-US" sz="3200" dirty="0">
                <a:solidFill>
                  <a:srgbClr val="000000"/>
                </a:solidFill>
                <a:latin typeface="Times New Roman" panose="02020603050405020304" pitchFamily="18" charset="0"/>
                <a:ea typeface="Sniglet"/>
                <a:cs typeface="Times New Roman" panose="02020603050405020304" pitchFamily="18" charset="0"/>
                <a:sym typeface="Sniglet"/>
              </a:rPr>
              <a:t>Results &amp; Discussion</a:t>
            </a:r>
          </a:p>
          <a:p>
            <a:pPr marL="514350" lvl="0" indent="-514350" algn="just">
              <a:lnSpc>
                <a:spcPct val="150000"/>
              </a:lnSpc>
              <a:spcBef>
                <a:spcPct val="0"/>
              </a:spcBef>
              <a:buFont typeface="+mj-lt"/>
              <a:buAutoNum type="arabicPeriod"/>
            </a:pPr>
            <a:r>
              <a:rPr lang="en-US" sz="3200" dirty="0">
                <a:solidFill>
                  <a:srgbClr val="000000"/>
                </a:solidFill>
                <a:latin typeface="Times New Roman" panose="02020603050405020304" pitchFamily="18" charset="0"/>
                <a:ea typeface="Sniglet"/>
                <a:cs typeface="Times New Roman" panose="02020603050405020304" pitchFamily="18" charset="0"/>
                <a:sym typeface="Sniglet"/>
              </a:rPr>
              <a:t>Conclusion</a:t>
            </a:r>
          </a:p>
          <a:p>
            <a:pPr lvl="0" algn="just">
              <a:lnSpc>
                <a:spcPct val="150000"/>
              </a:lnSpc>
              <a:spcBef>
                <a:spcPct val="0"/>
              </a:spcBef>
            </a:pPr>
            <a:r>
              <a:rPr lang="en-US" sz="3200" dirty="0">
                <a:solidFill>
                  <a:srgbClr val="000000"/>
                </a:solidFill>
                <a:latin typeface="Times New Roman" panose="02020603050405020304" pitchFamily="18" charset="0"/>
                <a:ea typeface="Sniglet"/>
                <a:cs typeface="Times New Roman" panose="02020603050405020304" pitchFamily="18" charset="0"/>
                <a:sym typeface="Sniglet"/>
              </a:rPr>
              <a:t>8.   Reference</a:t>
            </a:r>
          </a:p>
          <a:p>
            <a:pPr marL="514350" lvl="0" indent="-514350" algn="just">
              <a:lnSpc>
                <a:spcPct val="150000"/>
              </a:lnSpc>
              <a:spcBef>
                <a:spcPct val="0"/>
              </a:spcBef>
              <a:buFont typeface="+mj-lt"/>
              <a:buAutoNum type="arabicPeriod"/>
            </a:pPr>
            <a:endParaRPr lang="en-US" sz="3200" dirty="0">
              <a:solidFill>
                <a:srgbClr val="000000"/>
              </a:solidFill>
              <a:latin typeface="Times New Roman" panose="02020603050405020304" pitchFamily="18" charset="0"/>
              <a:ea typeface="Sniglet"/>
              <a:cs typeface="Times New Roman" panose="02020603050405020304" pitchFamily="18" charset="0"/>
              <a:sym typeface="Sniglet"/>
            </a:endParaRPr>
          </a:p>
          <a:p>
            <a:pPr marL="514350" lvl="0" indent="-514350" algn="just">
              <a:lnSpc>
                <a:spcPct val="150000"/>
              </a:lnSpc>
              <a:spcBef>
                <a:spcPct val="0"/>
              </a:spcBef>
              <a:buFont typeface="+mj-lt"/>
              <a:buAutoNum type="arabicPeriod"/>
            </a:pPr>
            <a:endParaRPr lang="en-US" sz="3200" dirty="0">
              <a:solidFill>
                <a:srgbClr val="000000"/>
              </a:solidFill>
              <a:latin typeface="Times New Roman" panose="02020603050405020304" pitchFamily="18" charset="0"/>
              <a:ea typeface="Sniglet"/>
              <a:cs typeface="Times New Roman" panose="02020603050405020304" pitchFamily="18" charset="0"/>
              <a:sym typeface="Sniglet"/>
            </a:endParaRPr>
          </a:p>
          <a:p>
            <a:pPr marL="514350" lvl="0" indent="-514350" algn="just">
              <a:lnSpc>
                <a:spcPct val="150000"/>
              </a:lnSpc>
              <a:spcBef>
                <a:spcPct val="0"/>
              </a:spcBef>
              <a:buFont typeface="+mj-lt"/>
              <a:buAutoNum type="arabicPeriod"/>
            </a:pPr>
            <a:endParaRPr lang="en-US" sz="2800" dirty="0">
              <a:solidFill>
                <a:srgbClr val="000000"/>
              </a:solidFill>
              <a:latin typeface="Times New Roman" panose="02020603050405020304" pitchFamily="18" charset="0"/>
              <a:ea typeface="Sniglet"/>
              <a:cs typeface="Times New Roman" panose="02020603050405020304" pitchFamily="18" charset="0"/>
              <a:sym typeface="Sniglet"/>
            </a:endParaRPr>
          </a:p>
        </p:txBody>
      </p:sp>
      <p:sp>
        <p:nvSpPr>
          <p:cNvPr id="7" name="TextBox 7">
            <a:extLst>
              <a:ext uri="{FF2B5EF4-FFF2-40B4-BE49-F238E27FC236}">
                <a16:creationId xmlns:a16="http://schemas.microsoft.com/office/drawing/2014/main" id="{55C9E06E-CD95-8CC1-6DD0-45A2AD8C78FB}"/>
              </a:ext>
            </a:extLst>
          </p:cNvPr>
          <p:cNvSpPr txBox="1"/>
          <p:nvPr/>
        </p:nvSpPr>
        <p:spPr>
          <a:xfrm>
            <a:off x="1295400" y="1104900"/>
            <a:ext cx="14849087" cy="1196225"/>
          </a:xfrm>
          <a:prstGeom prst="rect">
            <a:avLst/>
          </a:prstGeom>
        </p:spPr>
        <p:txBody>
          <a:bodyPr lIns="0" tIns="0" rIns="0" bIns="0" rtlCol="0" anchor="t">
            <a:spAutoFit/>
          </a:bodyPr>
          <a:lstStyle/>
          <a:p>
            <a:pPr lvl="0">
              <a:lnSpc>
                <a:spcPts val="9713"/>
              </a:lnSpc>
            </a:pPr>
            <a:r>
              <a:rPr lang="en-IN" sz="8000" b="1" dirty="0">
                <a:solidFill>
                  <a:srgbClr val="000000"/>
                </a:solidFill>
                <a:latin typeface="Times New Roman" panose="02020603050405020304" pitchFamily="18" charset="0"/>
                <a:ea typeface="Bobby Jones"/>
                <a:cs typeface="Times New Roman" panose="02020603050405020304" pitchFamily="18" charset="0"/>
                <a:sym typeface="Bobby Jones"/>
              </a:rPr>
              <a:t>Content-</a:t>
            </a:r>
            <a:endParaRPr lang="en-US" sz="7897" b="1" dirty="0">
              <a:solidFill>
                <a:srgbClr val="000000"/>
              </a:solidFill>
              <a:latin typeface="Times New Roman" panose="02020603050405020304" pitchFamily="18" charset="0"/>
              <a:ea typeface="Bobby Jones"/>
              <a:cs typeface="Times New Roman" panose="02020603050405020304" pitchFamily="18" charset="0"/>
              <a:sym typeface="Bobby Jones"/>
            </a:endParaRPr>
          </a:p>
        </p:txBody>
      </p:sp>
    </p:spTree>
    <p:extLst>
      <p:ext uri="{BB962C8B-B14F-4D97-AF65-F5344CB8AC3E}">
        <p14:creationId xmlns:p14="http://schemas.microsoft.com/office/powerpoint/2010/main" val="4190253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grpSp>
        <p:nvGrpSpPr>
          <p:cNvPr id="2" name="Group 2"/>
          <p:cNvGrpSpPr/>
          <p:nvPr/>
        </p:nvGrpSpPr>
        <p:grpSpPr>
          <a:xfrm>
            <a:off x="515733" y="800100"/>
            <a:ext cx="16857867" cy="9053457"/>
            <a:chOff x="0" y="0"/>
            <a:chExt cx="4544931" cy="2384450"/>
          </a:xfrm>
        </p:grpSpPr>
        <p:sp>
          <p:nvSpPr>
            <p:cNvPr id="3" name="Freeform 3"/>
            <p:cNvSpPr/>
            <p:nvPr/>
          </p:nvSpPr>
          <p:spPr>
            <a:xfrm>
              <a:off x="0" y="0"/>
              <a:ext cx="4544931" cy="2384450"/>
            </a:xfrm>
            <a:custGeom>
              <a:avLst/>
              <a:gdLst/>
              <a:ahLst/>
              <a:cxnLst/>
              <a:rect l="l" t="t" r="r" b="b"/>
              <a:pathLst>
                <a:path w="4544931" h="2384450">
                  <a:moveTo>
                    <a:pt x="11216" y="0"/>
                  </a:moveTo>
                  <a:lnTo>
                    <a:pt x="4533715" y="0"/>
                  </a:lnTo>
                  <a:cubicBezTo>
                    <a:pt x="4539909" y="0"/>
                    <a:pt x="4544931" y="5022"/>
                    <a:pt x="4544931" y="11216"/>
                  </a:cubicBezTo>
                  <a:lnTo>
                    <a:pt x="4544931" y="2373234"/>
                  </a:lnTo>
                  <a:cubicBezTo>
                    <a:pt x="4544931" y="2376208"/>
                    <a:pt x="4543749" y="2379061"/>
                    <a:pt x="4541646" y="2381165"/>
                  </a:cubicBezTo>
                  <a:cubicBezTo>
                    <a:pt x="4539542" y="2383268"/>
                    <a:pt x="4536689" y="2384450"/>
                    <a:pt x="4533715" y="2384450"/>
                  </a:cubicBezTo>
                  <a:lnTo>
                    <a:pt x="11216" y="2384450"/>
                  </a:lnTo>
                  <a:cubicBezTo>
                    <a:pt x="5022" y="2384450"/>
                    <a:pt x="0" y="2379428"/>
                    <a:pt x="0" y="2373234"/>
                  </a:cubicBezTo>
                  <a:lnTo>
                    <a:pt x="0" y="11216"/>
                  </a:lnTo>
                  <a:cubicBezTo>
                    <a:pt x="0" y="5022"/>
                    <a:pt x="5022" y="0"/>
                    <a:pt x="11216" y="0"/>
                  </a:cubicBezTo>
                  <a:close/>
                </a:path>
              </a:pathLst>
            </a:custGeom>
            <a:solidFill>
              <a:srgbClr val="FFFFFF"/>
            </a:solidFill>
          </p:spPr>
        </p:sp>
        <p:sp>
          <p:nvSpPr>
            <p:cNvPr id="4" name="TextBox 4"/>
            <p:cNvSpPr txBox="1"/>
            <p:nvPr/>
          </p:nvSpPr>
          <p:spPr>
            <a:xfrm>
              <a:off x="0" y="-38100"/>
              <a:ext cx="4544931" cy="242255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295400" y="1333500"/>
            <a:ext cx="13214272" cy="1173398"/>
          </a:xfrm>
          <a:prstGeom prst="rect">
            <a:avLst/>
          </a:prstGeom>
        </p:spPr>
        <p:txBody>
          <a:bodyPr wrap="square" lIns="0" tIns="0" rIns="0" bIns="0" rtlCol="0" anchor="t">
            <a:spAutoFit/>
          </a:bodyPr>
          <a:lstStyle/>
          <a:p>
            <a:pPr lvl="0">
              <a:lnSpc>
                <a:spcPts val="9713"/>
              </a:lnSpc>
            </a:pPr>
            <a:r>
              <a:rPr lang="en-IN" sz="8000" b="1" dirty="0">
                <a:latin typeface="Times New Roman" panose="02020603050405020304" pitchFamily="18" charset="0"/>
                <a:cs typeface="Times New Roman" panose="02020603050405020304" pitchFamily="18" charset="0"/>
              </a:rPr>
              <a:t>Introduction</a:t>
            </a:r>
            <a:r>
              <a:rPr lang="en-IN" sz="5400" b="1" dirty="0">
                <a:latin typeface="Times New Roman" panose="02020603050405020304" pitchFamily="18" charset="0"/>
                <a:cs typeface="Times New Roman" panose="02020603050405020304" pitchFamily="18" charset="0"/>
              </a:rPr>
              <a:t>  </a:t>
            </a:r>
            <a:endParaRPr lang="en-US" sz="5400" b="1" dirty="0">
              <a:solidFill>
                <a:srgbClr val="000000"/>
              </a:solidFill>
              <a:latin typeface="Times New Roman" panose="02020603050405020304" pitchFamily="18" charset="0"/>
              <a:ea typeface="Bobby Jones"/>
              <a:cs typeface="Times New Roman" panose="02020603050405020304" pitchFamily="18" charset="0"/>
              <a:sym typeface="Bobby Jones"/>
            </a:endParaRPr>
          </a:p>
        </p:txBody>
      </p:sp>
      <p:sp>
        <p:nvSpPr>
          <p:cNvPr id="7" name="TextBox 7"/>
          <p:cNvSpPr txBox="1"/>
          <p:nvPr/>
        </p:nvSpPr>
        <p:spPr>
          <a:xfrm>
            <a:off x="1524000" y="2654141"/>
            <a:ext cx="15697200" cy="7632859"/>
          </a:xfrm>
          <a:prstGeom prst="rect">
            <a:avLst/>
          </a:prstGeom>
        </p:spPr>
        <p:txBody>
          <a:bodyPr wrap="square" lIns="0" tIns="0" rIns="0" bIns="0" rtlCol="0" anchor="t">
            <a:spAutoFit/>
          </a:bodyPr>
          <a:lstStyle/>
          <a:p>
            <a:r>
              <a:rPr lang="en-US" sz="3200" b="1" dirty="0"/>
              <a:t>Problem:</a:t>
            </a:r>
            <a:br>
              <a:rPr lang="en-US" sz="3200" dirty="0"/>
            </a:br>
            <a:r>
              <a:rPr lang="en-US" sz="3200" dirty="0"/>
              <a:t>Data shared with cloud servers is often at risk of privacy breaches and unauthorized access, as traditional encryption (like AES, RSA) requires decryption before computation. This exposes sensitive data to cloud providers.</a:t>
            </a:r>
          </a:p>
          <a:p>
            <a:endParaRPr lang="en-US" sz="3200" dirty="0"/>
          </a:p>
          <a:p>
            <a:r>
              <a:rPr lang="en-US" sz="3200" b="1" dirty="0"/>
              <a:t>Motivation:</a:t>
            </a:r>
            <a:br>
              <a:rPr lang="en-US" sz="3200" dirty="0"/>
            </a:br>
            <a:r>
              <a:rPr lang="en-US" sz="3200" dirty="0"/>
              <a:t>With the growing use of cloud computing for data storage and analytics, there is a need for a secure system that allows computations on sensitive data </a:t>
            </a:r>
            <a:r>
              <a:rPr lang="en-US" sz="3200" b="1" dirty="0"/>
              <a:t>without revealing the original information</a:t>
            </a:r>
            <a:r>
              <a:rPr lang="en-US" sz="3200" dirty="0"/>
              <a:t> to the cloud.</a:t>
            </a:r>
          </a:p>
          <a:p>
            <a:endParaRPr lang="en-US" sz="3200" dirty="0"/>
          </a:p>
          <a:p>
            <a:r>
              <a:rPr lang="en-US" sz="3200" b="1" dirty="0"/>
              <a:t>Approach:</a:t>
            </a:r>
            <a:br>
              <a:rPr lang="en-US" sz="3200" dirty="0"/>
            </a:br>
            <a:r>
              <a:rPr lang="en-US" sz="3200" dirty="0"/>
              <a:t>Implement a </a:t>
            </a:r>
            <a:r>
              <a:rPr lang="en-US" sz="3200" b="1" dirty="0" err="1"/>
              <a:t>Homomorphic</a:t>
            </a:r>
            <a:r>
              <a:rPr lang="en-US" sz="3200" b="1" dirty="0"/>
              <a:t> Encryption (HE)</a:t>
            </a:r>
            <a:r>
              <a:rPr lang="en-US" sz="3200" dirty="0"/>
              <a:t>-based system where data is encrypted at the client side and securely processed across multiple cloud servers (Render &amp; </a:t>
            </a:r>
            <a:r>
              <a:rPr lang="en-US" sz="3200" dirty="0" err="1"/>
              <a:t>Replit</a:t>
            </a:r>
            <a:r>
              <a:rPr lang="en-US" sz="3200" dirty="0"/>
              <a:t>) </a:t>
            </a:r>
            <a:r>
              <a:rPr lang="en-US" sz="3200" b="1" dirty="0"/>
              <a:t>without decryption</a:t>
            </a:r>
            <a:r>
              <a:rPr lang="en-US" sz="3200" dirty="0"/>
              <a:t>, ensuring privacy-preserving data sharing and computation.</a:t>
            </a:r>
          </a:p>
          <a:p>
            <a:pPr algn="just">
              <a:lnSpc>
                <a:spcPct val="150000"/>
              </a:lnSpc>
              <a:spcBef>
                <a:spcPct val="0"/>
              </a:spcBef>
            </a:pPr>
            <a:endParaRPr lang="en-US" sz="3200" dirty="0">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grpSp>
        <p:nvGrpSpPr>
          <p:cNvPr id="2" name="Group 2"/>
          <p:cNvGrpSpPr/>
          <p:nvPr/>
        </p:nvGrpSpPr>
        <p:grpSpPr>
          <a:xfrm>
            <a:off x="515733" y="616771"/>
            <a:ext cx="17256534" cy="9053457"/>
            <a:chOff x="0" y="0"/>
            <a:chExt cx="4544931" cy="2384450"/>
          </a:xfrm>
        </p:grpSpPr>
        <p:sp>
          <p:nvSpPr>
            <p:cNvPr id="3" name="Freeform 3"/>
            <p:cNvSpPr/>
            <p:nvPr/>
          </p:nvSpPr>
          <p:spPr>
            <a:xfrm>
              <a:off x="0" y="0"/>
              <a:ext cx="4544931" cy="2384450"/>
            </a:xfrm>
            <a:custGeom>
              <a:avLst/>
              <a:gdLst/>
              <a:ahLst/>
              <a:cxnLst/>
              <a:rect l="l" t="t" r="r" b="b"/>
              <a:pathLst>
                <a:path w="4544931" h="2384450">
                  <a:moveTo>
                    <a:pt x="11216" y="0"/>
                  </a:moveTo>
                  <a:lnTo>
                    <a:pt x="4533715" y="0"/>
                  </a:lnTo>
                  <a:cubicBezTo>
                    <a:pt x="4539909" y="0"/>
                    <a:pt x="4544931" y="5022"/>
                    <a:pt x="4544931" y="11216"/>
                  </a:cubicBezTo>
                  <a:lnTo>
                    <a:pt x="4544931" y="2373234"/>
                  </a:lnTo>
                  <a:cubicBezTo>
                    <a:pt x="4544931" y="2376208"/>
                    <a:pt x="4543749" y="2379061"/>
                    <a:pt x="4541646" y="2381165"/>
                  </a:cubicBezTo>
                  <a:cubicBezTo>
                    <a:pt x="4539542" y="2383268"/>
                    <a:pt x="4536689" y="2384450"/>
                    <a:pt x="4533715" y="2384450"/>
                  </a:cubicBezTo>
                  <a:lnTo>
                    <a:pt x="11216" y="2384450"/>
                  </a:lnTo>
                  <a:cubicBezTo>
                    <a:pt x="5022" y="2384450"/>
                    <a:pt x="0" y="2379428"/>
                    <a:pt x="0" y="2373234"/>
                  </a:cubicBezTo>
                  <a:lnTo>
                    <a:pt x="0" y="11216"/>
                  </a:lnTo>
                  <a:cubicBezTo>
                    <a:pt x="0" y="5022"/>
                    <a:pt x="5022" y="0"/>
                    <a:pt x="11216" y="0"/>
                  </a:cubicBezTo>
                  <a:close/>
                </a:path>
              </a:pathLst>
            </a:custGeom>
            <a:solidFill>
              <a:srgbClr val="FFFFFF"/>
            </a:solidFill>
          </p:spPr>
        </p:sp>
        <p:sp>
          <p:nvSpPr>
            <p:cNvPr id="4" name="TextBox 4"/>
            <p:cNvSpPr txBox="1"/>
            <p:nvPr/>
          </p:nvSpPr>
          <p:spPr>
            <a:xfrm>
              <a:off x="0" y="-38100"/>
              <a:ext cx="4544931" cy="242255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447800" y="1938236"/>
            <a:ext cx="14090572" cy="1196225"/>
          </a:xfrm>
          <a:prstGeom prst="rect">
            <a:avLst/>
          </a:prstGeom>
        </p:spPr>
        <p:txBody>
          <a:bodyPr lIns="0" tIns="0" rIns="0" bIns="0" rtlCol="0" anchor="t">
            <a:spAutoFit/>
          </a:bodyPr>
          <a:lstStyle/>
          <a:p>
            <a:pPr lvl="0">
              <a:lnSpc>
                <a:spcPts val="9713"/>
              </a:lnSpc>
            </a:pPr>
            <a:r>
              <a:rPr lang="en-IN" sz="8000" b="1" dirty="0">
                <a:solidFill>
                  <a:srgbClr val="000000"/>
                </a:solidFill>
                <a:latin typeface="Times New Roman" panose="02020603050405020304" pitchFamily="18" charset="0"/>
                <a:ea typeface="Bobby Jones"/>
                <a:cs typeface="Times New Roman" panose="02020603050405020304" pitchFamily="18" charset="0"/>
                <a:sym typeface="Bobby Jones"/>
              </a:rPr>
              <a:t>Remarks of Stage-I presentation</a:t>
            </a:r>
            <a:endParaRPr lang="en-US" sz="8000" b="1" dirty="0">
              <a:solidFill>
                <a:srgbClr val="000000"/>
              </a:solidFill>
              <a:latin typeface="Times New Roman" panose="02020603050405020304" pitchFamily="18" charset="0"/>
              <a:ea typeface="Bobby Jones"/>
              <a:cs typeface="Times New Roman" panose="02020603050405020304" pitchFamily="18" charset="0"/>
              <a:sym typeface="Bobby Jones"/>
            </a:endParaRPr>
          </a:p>
        </p:txBody>
      </p:sp>
      <p:sp>
        <p:nvSpPr>
          <p:cNvPr id="5" name="TextBox 4">
            <a:extLst>
              <a:ext uri="{FF2B5EF4-FFF2-40B4-BE49-F238E27FC236}">
                <a16:creationId xmlns:a16="http://schemas.microsoft.com/office/drawing/2014/main" id="{B011F5BC-0125-ACA8-6095-6267F548E9E7}"/>
              </a:ext>
            </a:extLst>
          </p:cNvPr>
          <p:cNvSpPr txBox="1"/>
          <p:nvPr/>
        </p:nvSpPr>
        <p:spPr>
          <a:xfrm>
            <a:off x="1257299" y="3416558"/>
            <a:ext cx="15773401" cy="5016758"/>
          </a:xfrm>
          <a:prstGeom prst="rect">
            <a:avLst/>
          </a:prstGeom>
          <a:noFill/>
        </p:spPr>
        <p:txBody>
          <a:bodyPr wrap="square" lIns="91440" tIns="45720" rIns="91440" bIns="45720" rtlCol="0" anchor="t">
            <a:spAutoFit/>
          </a:bodyPr>
          <a:lstStyle/>
          <a:p>
            <a:pPr marL="457200" indent="-457200">
              <a:buFont typeface="Wingdings" pitchFamily="2" charset="2"/>
              <a:buChar char="Ø"/>
            </a:pPr>
            <a:r>
              <a:rPr lang="en-US" sz="3200" dirty="0"/>
              <a:t>Clearly explains the motivation behind using </a:t>
            </a:r>
            <a:r>
              <a:rPr lang="en-US" sz="3200" b="1" dirty="0" err="1"/>
              <a:t>homomorphic</a:t>
            </a:r>
            <a:r>
              <a:rPr lang="en-US" sz="3200" b="1" dirty="0"/>
              <a:t> encryption</a:t>
            </a:r>
            <a:r>
              <a:rPr lang="en-US" sz="3200" dirty="0"/>
              <a:t> to enable </a:t>
            </a:r>
            <a:r>
              <a:rPr lang="en-US" sz="3200" b="1" dirty="0"/>
              <a:t>secure computation on encrypted data</a:t>
            </a:r>
            <a:r>
              <a:rPr lang="en-US" sz="3200" dirty="0"/>
              <a:t> without exposing the original information to cloud providers.</a:t>
            </a:r>
          </a:p>
          <a:p>
            <a:pPr marL="457200" indent="-457200">
              <a:buFont typeface="Wingdings" pitchFamily="2" charset="2"/>
              <a:buChar char="Ø"/>
            </a:pPr>
            <a:r>
              <a:rPr lang="en-US" sz="3200" dirty="0"/>
              <a:t>Demonstrates a solid understanding of </a:t>
            </a:r>
            <a:r>
              <a:rPr lang="en-US" sz="3200" b="1" dirty="0"/>
              <a:t>data privacy challenges in cloud environments</a:t>
            </a:r>
            <a:r>
              <a:rPr lang="en-US" sz="3200" dirty="0"/>
              <a:t> and how </a:t>
            </a:r>
            <a:r>
              <a:rPr lang="en-US" sz="3200" b="1" dirty="0"/>
              <a:t>multi-cloud architecture</a:t>
            </a:r>
            <a:r>
              <a:rPr lang="en-US" sz="3200" dirty="0"/>
              <a:t> enhances </a:t>
            </a:r>
            <a:r>
              <a:rPr lang="en-US" sz="3200" b="1" dirty="0"/>
              <a:t>security, reliability, and fault tolerance</a:t>
            </a:r>
            <a:r>
              <a:rPr lang="en-US" sz="3200" dirty="0"/>
              <a:t>.</a:t>
            </a:r>
          </a:p>
          <a:p>
            <a:pPr marL="457200" indent="-457200">
              <a:buFont typeface="Wingdings" pitchFamily="2" charset="2"/>
              <a:buChar char="Ø"/>
            </a:pPr>
            <a:r>
              <a:rPr lang="en-US" sz="3200" dirty="0"/>
              <a:t>The guide suggested researching and identifying </a:t>
            </a:r>
            <a:r>
              <a:rPr lang="en-US" sz="3200" b="1" dirty="0"/>
              <a:t>real-world organizations or companies currently using </a:t>
            </a:r>
            <a:r>
              <a:rPr lang="en-US" sz="3200" b="1" dirty="0" err="1"/>
              <a:t>homomorphic</a:t>
            </a:r>
            <a:r>
              <a:rPr lang="en-US" sz="3200" b="1" dirty="0"/>
              <a:t> encryption</a:t>
            </a:r>
            <a:r>
              <a:rPr lang="en-US" sz="3200" dirty="0"/>
              <a:t> (e.g., in hospitals, educational institutions, or industries) to strengthen the practical relevance of the project.</a:t>
            </a:r>
          </a:p>
          <a:p>
            <a:pPr marL="457200" indent="-457200">
              <a:buFont typeface="Wingdings" pitchFamily="2" charset="2"/>
              <a:buChar char="Ø"/>
            </a:pPr>
            <a:r>
              <a:rPr lang="en-US" sz="3200" dirty="0"/>
              <a:t>Overall, the work is progressing well and on the right track.</a:t>
            </a:r>
          </a:p>
          <a:p>
            <a:pPr>
              <a:buFont typeface="Arial" panose="020B0604020202020204" pitchFamily="34" charset="0"/>
              <a:buChar char="•"/>
            </a:pPr>
            <a:endParaRPr lang="en-US"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grpSp>
        <p:nvGrpSpPr>
          <p:cNvPr id="2" name="Group 2"/>
          <p:cNvGrpSpPr/>
          <p:nvPr/>
        </p:nvGrpSpPr>
        <p:grpSpPr>
          <a:xfrm>
            <a:off x="228600" y="586410"/>
            <a:ext cx="17256534" cy="9053457"/>
            <a:chOff x="0" y="0"/>
            <a:chExt cx="4544931" cy="2384450"/>
          </a:xfrm>
        </p:grpSpPr>
        <p:sp>
          <p:nvSpPr>
            <p:cNvPr id="3" name="Freeform 3"/>
            <p:cNvSpPr/>
            <p:nvPr/>
          </p:nvSpPr>
          <p:spPr>
            <a:xfrm>
              <a:off x="0" y="0"/>
              <a:ext cx="4544931" cy="2384450"/>
            </a:xfrm>
            <a:custGeom>
              <a:avLst/>
              <a:gdLst/>
              <a:ahLst/>
              <a:cxnLst/>
              <a:rect l="l" t="t" r="r" b="b"/>
              <a:pathLst>
                <a:path w="4544931" h="2384450">
                  <a:moveTo>
                    <a:pt x="11216" y="0"/>
                  </a:moveTo>
                  <a:lnTo>
                    <a:pt x="4533715" y="0"/>
                  </a:lnTo>
                  <a:cubicBezTo>
                    <a:pt x="4539909" y="0"/>
                    <a:pt x="4544931" y="5022"/>
                    <a:pt x="4544931" y="11216"/>
                  </a:cubicBezTo>
                  <a:lnTo>
                    <a:pt x="4544931" y="2373234"/>
                  </a:lnTo>
                  <a:cubicBezTo>
                    <a:pt x="4544931" y="2376208"/>
                    <a:pt x="4543749" y="2379061"/>
                    <a:pt x="4541646" y="2381165"/>
                  </a:cubicBezTo>
                  <a:cubicBezTo>
                    <a:pt x="4539542" y="2383268"/>
                    <a:pt x="4536689" y="2384450"/>
                    <a:pt x="4533715" y="2384450"/>
                  </a:cubicBezTo>
                  <a:lnTo>
                    <a:pt x="11216" y="2384450"/>
                  </a:lnTo>
                  <a:cubicBezTo>
                    <a:pt x="5022" y="2384450"/>
                    <a:pt x="0" y="2379428"/>
                    <a:pt x="0" y="2373234"/>
                  </a:cubicBezTo>
                  <a:lnTo>
                    <a:pt x="0" y="11216"/>
                  </a:lnTo>
                  <a:cubicBezTo>
                    <a:pt x="0" y="5022"/>
                    <a:pt x="5022" y="0"/>
                    <a:pt x="11216" y="0"/>
                  </a:cubicBezTo>
                  <a:close/>
                </a:path>
              </a:pathLst>
            </a:custGeom>
            <a:solidFill>
              <a:srgbClr val="FFFFFF"/>
            </a:solidFill>
          </p:spPr>
        </p:sp>
        <p:sp>
          <p:nvSpPr>
            <p:cNvPr id="4" name="TextBox 4"/>
            <p:cNvSpPr txBox="1"/>
            <p:nvPr/>
          </p:nvSpPr>
          <p:spPr>
            <a:xfrm>
              <a:off x="0" y="-38100"/>
              <a:ext cx="4544931" cy="242255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333500" y="3695700"/>
            <a:ext cx="15697200" cy="6155531"/>
          </a:xfrm>
          <a:prstGeom prst="rect">
            <a:avLst/>
          </a:prstGeom>
        </p:spPr>
        <p:txBody>
          <a:bodyPr wrap="square" lIns="0" tIns="0" rIns="0" bIns="0" rtlCol="0" anchor="t">
            <a:spAutoFit/>
          </a:bodyPr>
          <a:lstStyle/>
          <a:p>
            <a:pPr marL="457200" indent="-457200">
              <a:buFont typeface="Wingdings" pitchFamily="2" charset="2"/>
              <a:buChar char="Ø"/>
            </a:pPr>
            <a:r>
              <a:rPr lang="en-IN" sz="3200" b="1" dirty="0" err="1"/>
              <a:t>Asan</a:t>
            </a:r>
            <a:r>
              <a:rPr lang="en-IN" sz="3200" b="1" dirty="0"/>
              <a:t> Medical </a:t>
            </a:r>
            <a:r>
              <a:rPr lang="en-IN" sz="3200" b="1" dirty="0" err="1"/>
              <a:t>Center</a:t>
            </a:r>
            <a:r>
              <a:rPr lang="en-IN" sz="3200" b="1" dirty="0"/>
              <a:t> (South Korea)</a:t>
            </a:r>
            <a:r>
              <a:rPr lang="en-IN" sz="3200" dirty="0"/>
              <a:t> — </a:t>
            </a:r>
            <a:r>
              <a:rPr lang="en-IN" sz="3200" i="1" dirty="0"/>
              <a:t>Healthcare</a:t>
            </a:r>
            <a:r>
              <a:rPr lang="en-IN" sz="3200" dirty="0"/>
              <a:t>: Applied </a:t>
            </a:r>
            <a:r>
              <a:rPr lang="en-IN" sz="3200" dirty="0" err="1"/>
              <a:t>homomorphic</a:t>
            </a:r>
            <a:r>
              <a:rPr lang="en-IN" sz="3200" dirty="0"/>
              <a:t> encryption for secure patient data analytics.</a:t>
            </a:r>
          </a:p>
          <a:p>
            <a:pPr marL="457200" indent="-457200">
              <a:buFont typeface="Wingdings" pitchFamily="2" charset="2"/>
              <a:buChar char="Ø"/>
            </a:pPr>
            <a:r>
              <a:rPr lang="en-IN" sz="3200" b="1" dirty="0"/>
              <a:t>Microsoft Corporation (USA)</a:t>
            </a:r>
            <a:r>
              <a:rPr lang="en-IN" sz="3200" dirty="0"/>
              <a:t> — </a:t>
            </a:r>
            <a:r>
              <a:rPr lang="en-IN" sz="3200" i="1" dirty="0"/>
              <a:t>Technology / Cloud Services</a:t>
            </a:r>
            <a:r>
              <a:rPr lang="en-IN" sz="3200" dirty="0"/>
              <a:t>: Developed the SEAL </a:t>
            </a:r>
            <a:r>
              <a:rPr lang="en-IN" sz="3200" dirty="0" err="1"/>
              <a:t>homomorphic</a:t>
            </a:r>
            <a:r>
              <a:rPr lang="en-IN" sz="3200" dirty="0"/>
              <a:t> encryption library and integrated it into cloud data analytics.</a:t>
            </a:r>
          </a:p>
          <a:p>
            <a:pPr marL="457200" indent="-457200">
              <a:buFont typeface="Wingdings" pitchFamily="2" charset="2"/>
              <a:buChar char="Ø"/>
            </a:pPr>
            <a:r>
              <a:rPr lang="en-IN" sz="3200" b="1" dirty="0"/>
              <a:t>IBM Corporation (USA)</a:t>
            </a:r>
            <a:r>
              <a:rPr lang="en-IN" sz="3200" dirty="0"/>
              <a:t> — </a:t>
            </a:r>
            <a:r>
              <a:rPr lang="en-IN" sz="3200" i="1" dirty="0"/>
              <a:t>Technology / Research</a:t>
            </a:r>
            <a:r>
              <a:rPr lang="en-IN" sz="3200" dirty="0"/>
              <a:t>: Conducted field trials implementing Fully </a:t>
            </a:r>
            <a:r>
              <a:rPr lang="en-IN" sz="3200" dirty="0" err="1"/>
              <a:t>Homomorphic</a:t>
            </a:r>
            <a:r>
              <a:rPr lang="en-IN" sz="3200" dirty="0"/>
              <a:t> Encryption (FHE) for secure cloud data processing.</a:t>
            </a:r>
          </a:p>
          <a:p>
            <a:pPr marL="457200" indent="-457200">
              <a:buFont typeface="Wingdings" pitchFamily="2" charset="2"/>
              <a:buChar char="Ø"/>
            </a:pPr>
            <a:r>
              <a:rPr lang="en-IN" sz="3200" b="1" dirty="0"/>
              <a:t>Duality Technologies (USA)</a:t>
            </a:r>
            <a:r>
              <a:rPr lang="en-IN" sz="3200" dirty="0"/>
              <a:t> — </a:t>
            </a:r>
            <a:r>
              <a:rPr lang="en-IN" sz="3200" i="1" dirty="0"/>
              <a:t>Privacy-Preserving Data Solutions / </a:t>
            </a:r>
            <a:r>
              <a:rPr lang="en-IN" sz="3200" i="1" dirty="0" err="1"/>
              <a:t>FinTech</a:t>
            </a:r>
            <a:r>
              <a:rPr lang="en-IN" sz="3200" dirty="0"/>
              <a:t>: Provides encrypted computation solutions for finance and healthcare data sharing.</a:t>
            </a:r>
          </a:p>
          <a:p>
            <a:pPr marL="457200" indent="-457200">
              <a:buFont typeface="Wingdings" pitchFamily="2" charset="2"/>
              <a:buChar char="Ø"/>
            </a:pPr>
            <a:r>
              <a:rPr lang="en-IN" sz="3200" b="1" dirty="0" err="1"/>
              <a:t>Trustwell</a:t>
            </a:r>
            <a:r>
              <a:rPr lang="en-IN" sz="3200" b="1" dirty="0"/>
              <a:t> Hospitals &amp; University </a:t>
            </a:r>
            <a:r>
              <a:rPr lang="en-IN" sz="3200" b="1" dirty="0" err="1"/>
              <a:t>Visvesvaraya</a:t>
            </a:r>
            <a:r>
              <a:rPr lang="en-IN" sz="3200" b="1" dirty="0"/>
              <a:t> College of Engineering (India)</a:t>
            </a:r>
            <a:r>
              <a:rPr lang="en-IN" sz="3200" dirty="0"/>
              <a:t> — </a:t>
            </a:r>
            <a:r>
              <a:rPr lang="en-IN" sz="3200" i="1" dirty="0"/>
              <a:t>Healthcare &amp; Education</a:t>
            </a:r>
            <a:r>
              <a:rPr lang="en-IN" sz="3200" dirty="0"/>
              <a:t>: Research collaboration using </a:t>
            </a:r>
            <a:r>
              <a:rPr lang="en-IN" sz="3200" dirty="0" err="1"/>
              <a:t>homomorphic</a:t>
            </a:r>
            <a:r>
              <a:rPr lang="en-IN" sz="3200" dirty="0"/>
              <a:t> encryption for disease prediction and analytics.</a:t>
            </a:r>
          </a:p>
          <a:p>
            <a:pPr marL="457200" indent="-457200">
              <a:lnSpc>
                <a:spcPct val="150000"/>
              </a:lnSpc>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p:txBody>
      </p:sp>
      <p:sp>
        <p:nvSpPr>
          <p:cNvPr id="7" name="TextBox 7"/>
          <p:cNvSpPr txBox="1"/>
          <p:nvPr/>
        </p:nvSpPr>
        <p:spPr>
          <a:xfrm>
            <a:off x="1295400" y="1028700"/>
            <a:ext cx="14395938" cy="2487861"/>
          </a:xfrm>
          <a:prstGeom prst="rect">
            <a:avLst/>
          </a:prstGeom>
        </p:spPr>
        <p:txBody>
          <a:bodyPr wrap="square" lIns="0" tIns="0" rIns="0" bIns="0" rtlCol="0" anchor="t">
            <a:spAutoFit/>
          </a:bodyPr>
          <a:lstStyle/>
          <a:p>
            <a:pPr lvl="0">
              <a:lnSpc>
                <a:spcPts val="9713"/>
              </a:lnSpc>
            </a:pPr>
            <a:r>
              <a:rPr lang="en-US" sz="8000" dirty="0"/>
              <a:t>Real-World </a:t>
            </a:r>
            <a:r>
              <a:rPr lang="en-US" sz="8000" dirty="0" err="1"/>
              <a:t>Organisations</a:t>
            </a:r>
            <a:r>
              <a:rPr lang="en-US" sz="8000" dirty="0"/>
              <a:t> Using </a:t>
            </a:r>
            <a:r>
              <a:rPr lang="en-US" sz="8000" dirty="0" err="1"/>
              <a:t>Homomorphic</a:t>
            </a:r>
            <a:r>
              <a:rPr lang="en-US" sz="8000" dirty="0"/>
              <a:t> Encryption</a:t>
            </a:r>
            <a:endParaRPr lang="en-US" sz="7897" b="1" dirty="0">
              <a:solidFill>
                <a:srgbClr val="000000"/>
              </a:solidFill>
              <a:latin typeface="Times New Roman" panose="02020603050405020304" pitchFamily="18" charset="0"/>
              <a:ea typeface="Bobby Jones"/>
              <a:cs typeface="Times New Roman" panose="02020603050405020304" pitchFamily="18" charset="0"/>
              <a:sym typeface="Bobby Jones"/>
            </a:endParaRPr>
          </a:p>
        </p:txBody>
      </p:sp>
    </p:spTree>
    <p:extLst>
      <p:ext uri="{BB962C8B-B14F-4D97-AF65-F5344CB8AC3E}">
        <p14:creationId xmlns:p14="http://schemas.microsoft.com/office/powerpoint/2010/main" val="3569711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grpSp>
        <p:nvGrpSpPr>
          <p:cNvPr id="2" name="Group 2"/>
          <p:cNvGrpSpPr/>
          <p:nvPr/>
        </p:nvGrpSpPr>
        <p:grpSpPr>
          <a:xfrm>
            <a:off x="228600" y="586410"/>
            <a:ext cx="17256534" cy="9053457"/>
            <a:chOff x="0" y="0"/>
            <a:chExt cx="4544931" cy="2384450"/>
          </a:xfrm>
        </p:grpSpPr>
        <p:sp>
          <p:nvSpPr>
            <p:cNvPr id="3" name="Freeform 3"/>
            <p:cNvSpPr/>
            <p:nvPr/>
          </p:nvSpPr>
          <p:spPr>
            <a:xfrm>
              <a:off x="0" y="0"/>
              <a:ext cx="4544931" cy="2384450"/>
            </a:xfrm>
            <a:custGeom>
              <a:avLst/>
              <a:gdLst/>
              <a:ahLst/>
              <a:cxnLst/>
              <a:rect l="l" t="t" r="r" b="b"/>
              <a:pathLst>
                <a:path w="4544931" h="2384450">
                  <a:moveTo>
                    <a:pt x="11216" y="0"/>
                  </a:moveTo>
                  <a:lnTo>
                    <a:pt x="4533715" y="0"/>
                  </a:lnTo>
                  <a:cubicBezTo>
                    <a:pt x="4539909" y="0"/>
                    <a:pt x="4544931" y="5022"/>
                    <a:pt x="4544931" y="11216"/>
                  </a:cubicBezTo>
                  <a:lnTo>
                    <a:pt x="4544931" y="2373234"/>
                  </a:lnTo>
                  <a:cubicBezTo>
                    <a:pt x="4544931" y="2376208"/>
                    <a:pt x="4543749" y="2379061"/>
                    <a:pt x="4541646" y="2381165"/>
                  </a:cubicBezTo>
                  <a:cubicBezTo>
                    <a:pt x="4539542" y="2383268"/>
                    <a:pt x="4536689" y="2384450"/>
                    <a:pt x="4533715" y="2384450"/>
                  </a:cubicBezTo>
                  <a:lnTo>
                    <a:pt x="11216" y="2384450"/>
                  </a:lnTo>
                  <a:cubicBezTo>
                    <a:pt x="5022" y="2384450"/>
                    <a:pt x="0" y="2379428"/>
                    <a:pt x="0" y="2373234"/>
                  </a:cubicBezTo>
                  <a:lnTo>
                    <a:pt x="0" y="11216"/>
                  </a:lnTo>
                  <a:cubicBezTo>
                    <a:pt x="0" y="5022"/>
                    <a:pt x="5022" y="0"/>
                    <a:pt x="11216" y="0"/>
                  </a:cubicBezTo>
                  <a:close/>
                </a:path>
              </a:pathLst>
            </a:custGeom>
            <a:solidFill>
              <a:srgbClr val="FFFFFF"/>
            </a:solidFill>
          </p:spPr>
        </p:sp>
        <p:sp>
          <p:nvSpPr>
            <p:cNvPr id="4" name="TextBox 4"/>
            <p:cNvSpPr txBox="1"/>
            <p:nvPr/>
          </p:nvSpPr>
          <p:spPr>
            <a:xfrm>
              <a:off x="0" y="-38100"/>
              <a:ext cx="4544931" cy="242255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295400" y="3981450"/>
            <a:ext cx="14395938" cy="4678204"/>
          </a:xfrm>
          <a:prstGeom prst="rect">
            <a:avLst/>
          </a:prstGeom>
        </p:spPr>
        <p:txBody>
          <a:bodyPr wrap="square" lIns="0" tIns="0" rIns="0" bIns="0" rtlCol="0" anchor="t">
            <a:spAutoFit/>
          </a:bodyPr>
          <a:lstStyle/>
          <a:p>
            <a:pPr marL="457200" indent="-457200">
              <a:buFont typeface="Wingdings" pitchFamily="2" charset="2"/>
              <a:buChar char="Ø"/>
            </a:pPr>
            <a:r>
              <a:rPr lang="en-US" sz="3200" dirty="0"/>
              <a:t>Develop an </a:t>
            </a:r>
            <a:r>
              <a:rPr lang="en-US" sz="3200" b="1" dirty="0"/>
              <a:t>end-to-end secure computation framework</a:t>
            </a:r>
            <a:r>
              <a:rPr lang="en-US" sz="3200" dirty="0"/>
              <a:t> using </a:t>
            </a:r>
            <a:r>
              <a:rPr lang="en-US" sz="3200" b="1" dirty="0" err="1"/>
              <a:t>Homomorphic</a:t>
            </a:r>
            <a:r>
              <a:rPr lang="en-US" sz="3200" b="1" dirty="0"/>
              <a:t> Encryption (HE)</a:t>
            </a:r>
            <a:r>
              <a:rPr lang="en-US" sz="3200" dirty="0"/>
              <a:t>.</a:t>
            </a:r>
          </a:p>
          <a:p>
            <a:pPr marL="457200" indent="-457200">
              <a:buFont typeface="Wingdings" pitchFamily="2" charset="2"/>
              <a:buChar char="Ø"/>
            </a:pPr>
            <a:r>
              <a:rPr lang="en-US" sz="3200" dirty="0"/>
              <a:t>Enable </a:t>
            </a:r>
            <a:r>
              <a:rPr lang="en-US" sz="3200" b="1" dirty="0"/>
              <a:t>data processing directly on encrypted data</a:t>
            </a:r>
            <a:r>
              <a:rPr lang="en-US" sz="3200" dirty="0"/>
              <a:t> without decryption, ensuring </a:t>
            </a:r>
            <a:r>
              <a:rPr lang="en-US" sz="3200" b="1" dirty="0"/>
              <a:t>privacy preservation</a:t>
            </a:r>
            <a:r>
              <a:rPr lang="en-US" sz="3200" dirty="0"/>
              <a:t>.</a:t>
            </a:r>
          </a:p>
          <a:p>
            <a:pPr marL="457200" indent="-457200">
              <a:buFont typeface="Wingdings" pitchFamily="2" charset="2"/>
              <a:buChar char="Ø"/>
            </a:pPr>
            <a:r>
              <a:rPr lang="en-US" sz="3200" dirty="0"/>
              <a:t>Design a </a:t>
            </a:r>
            <a:r>
              <a:rPr lang="en-US" sz="3200" b="1" dirty="0"/>
              <a:t>multi-cloud architecture</a:t>
            </a:r>
            <a:r>
              <a:rPr lang="en-US" sz="3200" dirty="0"/>
              <a:t> to enhance </a:t>
            </a:r>
            <a:r>
              <a:rPr lang="en-US" sz="3200" b="1" dirty="0"/>
              <a:t>data security, reliability, and fault tolerance</a:t>
            </a:r>
            <a:r>
              <a:rPr lang="en-US" sz="3200" dirty="0"/>
              <a:t>.</a:t>
            </a:r>
          </a:p>
          <a:p>
            <a:pPr marL="457200" indent="-457200">
              <a:buFont typeface="Wingdings" pitchFamily="2" charset="2"/>
              <a:buChar char="Ø"/>
            </a:pPr>
            <a:r>
              <a:rPr lang="en-US" sz="3200" dirty="0"/>
              <a:t>Achieve </a:t>
            </a:r>
            <a:r>
              <a:rPr lang="en-US" sz="3200" b="1" dirty="0"/>
              <a:t>accurate computation results</a:t>
            </a:r>
            <a:r>
              <a:rPr lang="en-US" sz="3200" dirty="0"/>
              <a:t> with </a:t>
            </a:r>
            <a:r>
              <a:rPr lang="en-US" sz="3200" b="1" dirty="0"/>
              <a:t>minimal performance overhead</a:t>
            </a:r>
            <a:r>
              <a:rPr lang="en-US" sz="3200" dirty="0"/>
              <a:t> and </a:t>
            </a:r>
            <a:r>
              <a:rPr lang="en-US" sz="3200" b="1" dirty="0"/>
              <a:t>no exposure of sensitive data</a:t>
            </a:r>
            <a:r>
              <a:rPr lang="en-US" sz="3200" dirty="0"/>
              <a:t> to cloud providers.</a:t>
            </a:r>
          </a:p>
          <a:p>
            <a:pPr marL="457200" indent="-457200">
              <a:lnSpc>
                <a:spcPct val="150000"/>
              </a:lnSpc>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p:txBody>
      </p:sp>
      <p:sp>
        <p:nvSpPr>
          <p:cNvPr id="7" name="TextBox 7"/>
          <p:cNvSpPr txBox="1"/>
          <p:nvPr/>
        </p:nvSpPr>
        <p:spPr>
          <a:xfrm>
            <a:off x="1295400" y="2247900"/>
            <a:ext cx="10553700" cy="1196225"/>
          </a:xfrm>
          <a:prstGeom prst="rect">
            <a:avLst/>
          </a:prstGeom>
        </p:spPr>
        <p:txBody>
          <a:bodyPr wrap="square" lIns="0" tIns="0" rIns="0" bIns="0" rtlCol="0" anchor="t">
            <a:spAutoFit/>
          </a:bodyPr>
          <a:lstStyle/>
          <a:p>
            <a:pPr lvl="0">
              <a:lnSpc>
                <a:spcPts val="9713"/>
              </a:lnSpc>
            </a:pPr>
            <a:r>
              <a:rPr lang="en-IN" sz="8000" b="1" dirty="0">
                <a:solidFill>
                  <a:srgbClr val="000000"/>
                </a:solidFill>
                <a:latin typeface="Times New Roman" panose="02020603050405020304" pitchFamily="18" charset="0"/>
                <a:ea typeface="Bobby Jones"/>
                <a:cs typeface="Times New Roman" panose="02020603050405020304" pitchFamily="18" charset="0"/>
                <a:sym typeface="Bobby Jones"/>
              </a:rPr>
              <a:t>Objectives</a:t>
            </a:r>
            <a:endParaRPr lang="en-US" sz="7897" b="1" dirty="0">
              <a:solidFill>
                <a:srgbClr val="000000"/>
              </a:solidFill>
              <a:latin typeface="Times New Roman" panose="02020603050405020304" pitchFamily="18" charset="0"/>
              <a:ea typeface="Bobby Jones"/>
              <a:cs typeface="Times New Roman" panose="02020603050405020304" pitchFamily="18" charset="0"/>
              <a:sym typeface="Bobby Jone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F16A3BA2-269E-400C-94A4-0F74602C07A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02EDA92-28DE-E3AD-F593-F1A9190D0AAD}"/>
              </a:ext>
            </a:extLst>
          </p:cNvPr>
          <p:cNvGrpSpPr/>
          <p:nvPr/>
        </p:nvGrpSpPr>
        <p:grpSpPr>
          <a:xfrm>
            <a:off x="515733" y="615745"/>
            <a:ext cx="17256534" cy="8871155"/>
            <a:chOff x="0" y="0"/>
            <a:chExt cx="4544931" cy="2384450"/>
          </a:xfrm>
        </p:grpSpPr>
        <p:sp>
          <p:nvSpPr>
            <p:cNvPr id="3" name="Freeform 3">
              <a:extLst>
                <a:ext uri="{FF2B5EF4-FFF2-40B4-BE49-F238E27FC236}">
                  <a16:creationId xmlns:a16="http://schemas.microsoft.com/office/drawing/2014/main" id="{135B84E3-48B3-4D3F-2B1C-9F2851F274D2}"/>
                </a:ext>
              </a:extLst>
            </p:cNvPr>
            <p:cNvSpPr/>
            <p:nvPr/>
          </p:nvSpPr>
          <p:spPr>
            <a:xfrm>
              <a:off x="0" y="0"/>
              <a:ext cx="4544931" cy="2384450"/>
            </a:xfrm>
            <a:custGeom>
              <a:avLst/>
              <a:gdLst/>
              <a:ahLst/>
              <a:cxnLst/>
              <a:rect l="l" t="t" r="r" b="b"/>
              <a:pathLst>
                <a:path w="4544931" h="2384450">
                  <a:moveTo>
                    <a:pt x="11216" y="0"/>
                  </a:moveTo>
                  <a:lnTo>
                    <a:pt x="4533715" y="0"/>
                  </a:lnTo>
                  <a:cubicBezTo>
                    <a:pt x="4539909" y="0"/>
                    <a:pt x="4544931" y="5022"/>
                    <a:pt x="4544931" y="11216"/>
                  </a:cubicBezTo>
                  <a:lnTo>
                    <a:pt x="4544931" y="2373234"/>
                  </a:lnTo>
                  <a:cubicBezTo>
                    <a:pt x="4544931" y="2376208"/>
                    <a:pt x="4543749" y="2379061"/>
                    <a:pt x="4541646" y="2381165"/>
                  </a:cubicBezTo>
                  <a:cubicBezTo>
                    <a:pt x="4539542" y="2383268"/>
                    <a:pt x="4536689" y="2384450"/>
                    <a:pt x="4533715" y="2384450"/>
                  </a:cubicBezTo>
                  <a:lnTo>
                    <a:pt x="11216" y="2384450"/>
                  </a:lnTo>
                  <a:cubicBezTo>
                    <a:pt x="5022" y="2384450"/>
                    <a:pt x="0" y="2379428"/>
                    <a:pt x="0" y="2373234"/>
                  </a:cubicBezTo>
                  <a:lnTo>
                    <a:pt x="0" y="11216"/>
                  </a:lnTo>
                  <a:cubicBezTo>
                    <a:pt x="0" y="5022"/>
                    <a:pt x="5022" y="0"/>
                    <a:pt x="11216" y="0"/>
                  </a:cubicBezTo>
                  <a:close/>
                </a:path>
              </a:pathLst>
            </a:custGeom>
            <a:solidFill>
              <a:srgbClr val="FFFFFF"/>
            </a:solidFill>
          </p:spPr>
        </p:sp>
        <p:sp>
          <p:nvSpPr>
            <p:cNvPr id="4" name="TextBox 4">
              <a:extLst>
                <a:ext uri="{FF2B5EF4-FFF2-40B4-BE49-F238E27FC236}">
                  <a16:creationId xmlns:a16="http://schemas.microsoft.com/office/drawing/2014/main" id="{E57C37B7-364A-ECDA-8B8F-97EC10E9ED6E}"/>
                </a:ext>
              </a:extLst>
            </p:cNvPr>
            <p:cNvSpPr txBox="1"/>
            <p:nvPr/>
          </p:nvSpPr>
          <p:spPr>
            <a:xfrm>
              <a:off x="0" y="-38100"/>
              <a:ext cx="4544931" cy="242255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a:extLst>
              <a:ext uri="{FF2B5EF4-FFF2-40B4-BE49-F238E27FC236}">
                <a16:creationId xmlns:a16="http://schemas.microsoft.com/office/drawing/2014/main" id="{1F04B195-F47A-2614-AE15-70EFD0A0CB6F}"/>
              </a:ext>
            </a:extLst>
          </p:cNvPr>
          <p:cNvSpPr txBox="1"/>
          <p:nvPr/>
        </p:nvSpPr>
        <p:spPr>
          <a:xfrm>
            <a:off x="876300" y="952500"/>
            <a:ext cx="14090572" cy="1196225"/>
          </a:xfrm>
          <a:prstGeom prst="rect">
            <a:avLst/>
          </a:prstGeom>
        </p:spPr>
        <p:txBody>
          <a:bodyPr lIns="0" tIns="0" rIns="0" bIns="0" rtlCol="0" anchor="t">
            <a:spAutoFit/>
          </a:bodyPr>
          <a:lstStyle/>
          <a:p>
            <a:pPr lvl="0">
              <a:lnSpc>
                <a:spcPts val="9713"/>
              </a:lnSpc>
            </a:pPr>
            <a:r>
              <a:rPr lang="en-IN" sz="8000" b="1" dirty="0">
                <a:latin typeface="Times New Roman" panose="02020603050405020304" pitchFamily="18" charset="0"/>
                <a:cs typeface="Times New Roman" panose="02020603050405020304" pitchFamily="18" charset="0"/>
              </a:rPr>
              <a:t>Methodology</a:t>
            </a:r>
            <a:endParaRPr lang="en-US" sz="7897" b="1" dirty="0">
              <a:solidFill>
                <a:srgbClr val="000000"/>
              </a:solidFill>
              <a:latin typeface="Times New Roman" panose="02020603050405020304" pitchFamily="18" charset="0"/>
              <a:ea typeface="Bobby Jones"/>
              <a:cs typeface="Times New Roman" panose="02020603050405020304" pitchFamily="18" charset="0"/>
              <a:sym typeface="Bobby Jones"/>
            </a:endParaRPr>
          </a:p>
        </p:txBody>
      </p:sp>
      <p:sp>
        <p:nvSpPr>
          <p:cNvPr id="10" name="TextBox 9">
            <a:extLst>
              <a:ext uri="{FF2B5EF4-FFF2-40B4-BE49-F238E27FC236}">
                <a16:creationId xmlns:a16="http://schemas.microsoft.com/office/drawing/2014/main" id="{737111BD-21BE-EE9D-CDF0-5B1B091F239E}"/>
              </a:ext>
            </a:extLst>
          </p:cNvPr>
          <p:cNvSpPr txBox="1"/>
          <p:nvPr/>
        </p:nvSpPr>
        <p:spPr>
          <a:xfrm>
            <a:off x="702486" y="2171700"/>
            <a:ext cx="13242114" cy="7725192"/>
          </a:xfrm>
          <a:prstGeom prst="rect">
            <a:avLst/>
          </a:prstGeom>
          <a:noFill/>
        </p:spPr>
        <p:txBody>
          <a:bodyPr wrap="square" lIns="91440" tIns="45720" rIns="91440" bIns="45720" rtlCol="0" anchor="t">
            <a:spAutoFit/>
          </a:bodyPr>
          <a:lstStyle/>
          <a:p>
            <a:r>
              <a:rPr lang="en-US" sz="3200" b="1" dirty="0"/>
              <a:t>Architecture:</a:t>
            </a:r>
            <a:endParaRPr lang="en-US" sz="3200" dirty="0"/>
          </a:p>
          <a:p>
            <a:pPr marL="457200" indent="-457200">
              <a:buFont typeface="Wingdings" pitchFamily="2" charset="2"/>
              <a:buChar char="Ø"/>
            </a:pPr>
            <a:r>
              <a:rPr lang="en-US" sz="3200" dirty="0"/>
              <a:t>Multi-cloud setup with </a:t>
            </a:r>
            <a:r>
              <a:rPr lang="en-US" sz="3200" b="1" dirty="0"/>
              <a:t>two independent cloud servers (Render &amp; </a:t>
            </a:r>
            <a:r>
              <a:rPr lang="en-US" sz="3200" b="1" dirty="0" err="1"/>
              <a:t>Replit</a:t>
            </a:r>
            <a:r>
              <a:rPr lang="en-US" sz="3200" b="1" dirty="0"/>
              <a:t>)</a:t>
            </a:r>
            <a:r>
              <a:rPr lang="en-US" sz="3200" dirty="0"/>
              <a:t>.</a:t>
            </a:r>
          </a:p>
          <a:p>
            <a:pPr marL="457200" indent="-457200">
              <a:buFont typeface="Wingdings" pitchFamily="2" charset="2"/>
              <a:buChar char="Ø"/>
            </a:pPr>
            <a:r>
              <a:rPr lang="en-US" sz="3200" dirty="0"/>
              <a:t>Each cloud performs </a:t>
            </a:r>
            <a:r>
              <a:rPr lang="en-US" sz="3200" b="1" dirty="0"/>
              <a:t>secure computations</a:t>
            </a:r>
            <a:r>
              <a:rPr lang="en-US" sz="3200" dirty="0"/>
              <a:t> using </a:t>
            </a:r>
            <a:r>
              <a:rPr lang="en-US" sz="3200" b="1" dirty="0" err="1"/>
              <a:t>Homomorphic</a:t>
            </a:r>
            <a:r>
              <a:rPr lang="en-US" sz="3200" b="1" dirty="0"/>
              <a:t> Encryption (HE)</a:t>
            </a:r>
            <a:r>
              <a:rPr lang="en-US" sz="3200" dirty="0"/>
              <a:t>.</a:t>
            </a:r>
          </a:p>
          <a:p>
            <a:pPr marL="457200" indent="-457200">
              <a:buFont typeface="Wingdings" pitchFamily="2" charset="2"/>
              <a:buChar char="Ø"/>
            </a:pPr>
            <a:r>
              <a:rPr lang="en-US" sz="3200" dirty="0"/>
              <a:t>A </a:t>
            </a:r>
            <a:r>
              <a:rPr lang="en-US" sz="3200" b="1" dirty="0"/>
              <a:t>client module</a:t>
            </a:r>
            <a:r>
              <a:rPr lang="en-US" sz="3200" dirty="0"/>
              <a:t> encrypts the data before sending it to the clouds.</a:t>
            </a:r>
          </a:p>
          <a:p>
            <a:r>
              <a:rPr lang="en-US" sz="3200" b="1" dirty="0"/>
              <a:t>Encryption &amp; Processing:</a:t>
            </a:r>
            <a:endParaRPr lang="en-US" sz="3200" dirty="0"/>
          </a:p>
          <a:p>
            <a:pPr marL="457200" indent="-457200">
              <a:buFont typeface="Wingdings" pitchFamily="2" charset="2"/>
              <a:buChar char="Ø"/>
            </a:pPr>
            <a:r>
              <a:rPr lang="en-US" sz="3200" dirty="0"/>
              <a:t>Input data is encrypted using the </a:t>
            </a:r>
            <a:r>
              <a:rPr lang="en-US" sz="3200" b="1" dirty="0"/>
              <a:t>CKKS </a:t>
            </a:r>
            <a:r>
              <a:rPr lang="en-US" sz="3200" b="1" dirty="0" err="1"/>
              <a:t>homomorphic</a:t>
            </a:r>
            <a:r>
              <a:rPr lang="en-US" sz="3200" b="1" dirty="0"/>
              <a:t> encryption scheme</a:t>
            </a:r>
            <a:r>
              <a:rPr lang="en-US" sz="3200" dirty="0"/>
              <a:t>.</a:t>
            </a:r>
          </a:p>
          <a:p>
            <a:pPr marL="457200" indent="-457200">
              <a:buFont typeface="Wingdings" pitchFamily="2" charset="2"/>
              <a:buChar char="Ø"/>
            </a:pPr>
            <a:r>
              <a:rPr lang="en-US" sz="3200" dirty="0"/>
              <a:t>Encrypted data is sent to </a:t>
            </a:r>
            <a:r>
              <a:rPr lang="en-US" sz="3200" b="1" dirty="0"/>
              <a:t>both clouds</a:t>
            </a:r>
            <a:r>
              <a:rPr lang="en-US" sz="3200" dirty="0"/>
              <a:t> for parallel computation.</a:t>
            </a:r>
          </a:p>
          <a:p>
            <a:pPr marL="457200" indent="-457200">
              <a:buFont typeface="Wingdings" pitchFamily="2" charset="2"/>
              <a:buChar char="Ø"/>
            </a:pPr>
            <a:r>
              <a:rPr lang="en-US" sz="3200" dirty="0"/>
              <a:t>Each cloud performs operations (e.g., sum, average) </a:t>
            </a:r>
            <a:r>
              <a:rPr lang="en-US" sz="3200" b="1" dirty="0"/>
              <a:t>directly on encrypted data</a:t>
            </a:r>
            <a:r>
              <a:rPr lang="en-US" sz="3200" dirty="0"/>
              <a:t> — without decryption.</a:t>
            </a:r>
          </a:p>
          <a:p>
            <a:r>
              <a:rPr lang="en-US" sz="3200" b="1" dirty="0"/>
              <a:t>Decryption &amp; Results:</a:t>
            </a:r>
            <a:endParaRPr lang="en-US" sz="3200" dirty="0"/>
          </a:p>
          <a:p>
            <a:pPr marL="457200" indent="-457200">
              <a:buFont typeface="Wingdings" pitchFamily="2" charset="2"/>
              <a:buChar char="Ø"/>
            </a:pPr>
            <a:r>
              <a:rPr lang="en-US" sz="3200" dirty="0"/>
              <a:t>Encrypted results from both clouds are sent back to the </a:t>
            </a:r>
            <a:r>
              <a:rPr lang="en-US" sz="3200" b="1" dirty="0"/>
              <a:t>client</a:t>
            </a:r>
            <a:r>
              <a:rPr lang="en-US" sz="3200" dirty="0"/>
              <a:t>.</a:t>
            </a:r>
          </a:p>
          <a:p>
            <a:pPr marL="457200" indent="-457200">
              <a:buFont typeface="Wingdings" pitchFamily="2" charset="2"/>
              <a:buChar char="Ø"/>
            </a:pPr>
            <a:r>
              <a:rPr lang="en-US" sz="3200" dirty="0"/>
              <a:t>The client </a:t>
            </a:r>
            <a:r>
              <a:rPr lang="en-US" sz="3200" b="1" dirty="0"/>
              <a:t>decrypts</a:t>
            </a:r>
            <a:r>
              <a:rPr lang="en-US" sz="3200" dirty="0"/>
              <a:t> the results using the secret key to obtain the final values.</a:t>
            </a:r>
          </a:p>
          <a:p>
            <a:pPr>
              <a:lnSpc>
                <a:spcPct val="150000"/>
              </a:lnSpc>
            </a:pPr>
            <a:endParaRPr lang="en-US" sz="3200" b="1"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96950" y="1825721"/>
            <a:ext cx="4056267" cy="6921554"/>
          </a:xfrm>
          <a:prstGeom prst="rect">
            <a:avLst/>
          </a:prstGeom>
        </p:spPr>
      </p:pic>
    </p:spTree>
    <p:extLst>
      <p:ext uri="{BB962C8B-B14F-4D97-AF65-F5344CB8AC3E}">
        <p14:creationId xmlns:p14="http://schemas.microsoft.com/office/powerpoint/2010/main" val="1756111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62D70A53-6A6E-6B7B-9B95-01CC4E476F6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3E1B726-2977-5991-A1AA-7E8D8AAF35A5}"/>
              </a:ext>
            </a:extLst>
          </p:cNvPr>
          <p:cNvGrpSpPr/>
          <p:nvPr/>
        </p:nvGrpSpPr>
        <p:grpSpPr>
          <a:xfrm>
            <a:off x="228600" y="345296"/>
            <a:ext cx="17256534" cy="9053457"/>
            <a:chOff x="0" y="0"/>
            <a:chExt cx="4544931" cy="2384450"/>
          </a:xfrm>
        </p:grpSpPr>
        <p:sp>
          <p:nvSpPr>
            <p:cNvPr id="3" name="Freeform 3">
              <a:extLst>
                <a:ext uri="{FF2B5EF4-FFF2-40B4-BE49-F238E27FC236}">
                  <a16:creationId xmlns:a16="http://schemas.microsoft.com/office/drawing/2014/main" id="{63419F6D-591B-3616-C333-E0B47B22323F}"/>
                </a:ext>
              </a:extLst>
            </p:cNvPr>
            <p:cNvSpPr/>
            <p:nvPr/>
          </p:nvSpPr>
          <p:spPr>
            <a:xfrm>
              <a:off x="0" y="0"/>
              <a:ext cx="4544931" cy="2384450"/>
            </a:xfrm>
            <a:custGeom>
              <a:avLst/>
              <a:gdLst/>
              <a:ahLst/>
              <a:cxnLst/>
              <a:rect l="l" t="t" r="r" b="b"/>
              <a:pathLst>
                <a:path w="4544931" h="2384450">
                  <a:moveTo>
                    <a:pt x="11216" y="0"/>
                  </a:moveTo>
                  <a:lnTo>
                    <a:pt x="4533715" y="0"/>
                  </a:lnTo>
                  <a:cubicBezTo>
                    <a:pt x="4539909" y="0"/>
                    <a:pt x="4544931" y="5022"/>
                    <a:pt x="4544931" y="11216"/>
                  </a:cubicBezTo>
                  <a:lnTo>
                    <a:pt x="4544931" y="2373234"/>
                  </a:lnTo>
                  <a:cubicBezTo>
                    <a:pt x="4544931" y="2376208"/>
                    <a:pt x="4543749" y="2379061"/>
                    <a:pt x="4541646" y="2381165"/>
                  </a:cubicBezTo>
                  <a:cubicBezTo>
                    <a:pt x="4539542" y="2383268"/>
                    <a:pt x="4536689" y="2384450"/>
                    <a:pt x="4533715" y="2384450"/>
                  </a:cubicBezTo>
                  <a:lnTo>
                    <a:pt x="11216" y="2384450"/>
                  </a:lnTo>
                  <a:cubicBezTo>
                    <a:pt x="5022" y="2384450"/>
                    <a:pt x="0" y="2379428"/>
                    <a:pt x="0" y="2373234"/>
                  </a:cubicBezTo>
                  <a:lnTo>
                    <a:pt x="0" y="11216"/>
                  </a:lnTo>
                  <a:cubicBezTo>
                    <a:pt x="0" y="5022"/>
                    <a:pt x="5022" y="0"/>
                    <a:pt x="11216" y="0"/>
                  </a:cubicBezTo>
                  <a:close/>
                </a:path>
              </a:pathLst>
            </a:custGeom>
            <a:solidFill>
              <a:srgbClr val="FFFFFF"/>
            </a:solidFill>
          </p:spPr>
        </p:sp>
        <p:sp>
          <p:nvSpPr>
            <p:cNvPr id="4" name="TextBox 4">
              <a:extLst>
                <a:ext uri="{FF2B5EF4-FFF2-40B4-BE49-F238E27FC236}">
                  <a16:creationId xmlns:a16="http://schemas.microsoft.com/office/drawing/2014/main" id="{8D924163-5799-5236-EE90-FB5B20F43488}"/>
                </a:ext>
              </a:extLst>
            </p:cNvPr>
            <p:cNvSpPr txBox="1"/>
            <p:nvPr/>
          </p:nvSpPr>
          <p:spPr>
            <a:xfrm>
              <a:off x="0" y="-38100"/>
              <a:ext cx="4544931" cy="242255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a:extLst>
              <a:ext uri="{FF2B5EF4-FFF2-40B4-BE49-F238E27FC236}">
                <a16:creationId xmlns:a16="http://schemas.microsoft.com/office/drawing/2014/main" id="{AAB453E8-F0C4-C8F9-0FC2-2FC10F266B68}"/>
              </a:ext>
            </a:extLst>
          </p:cNvPr>
          <p:cNvSpPr txBox="1"/>
          <p:nvPr/>
        </p:nvSpPr>
        <p:spPr>
          <a:xfrm>
            <a:off x="1143000" y="876300"/>
            <a:ext cx="14090572" cy="1196225"/>
          </a:xfrm>
          <a:prstGeom prst="rect">
            <a:avLst/>
          </a:prstGeom>
        </p:spPr>
        <p:txBody>
          <a:bodyPr lIns="0" tIns="0" rIns="0" bIns="0" rtlCol="0" anchor="t">
            <a:spAutoFit/>
          </a:bodyPr>
          <a:lstStyle/>
          <a:p>
            <a:pPr lvl="0">
              <a:lnSpc>
                <a:spcPts val="9713"/>
              </a:lnSpc>
            </a:pPr>
            <a:r>
              <a:rPr lang="en-IN" sz="8000" b="1" dirty="0">
                <a:solidFill>
                  <a:srgbClr val="000000"/>
                </a:solidFill>
                <a:latin typeface="Times New Roman" panose="02020603050405020304" pitchFamily="18" charset="0"/>
                <a:ea typeface="Bobby Jones"/>
                <a:cs typeface="Times New Roman" panose="02020603050405020304" pitchFamily="18" charset="0"/>
                <a:sym typeface="Bobby Jones"/>
              </a:rPr>
              <a:t>Experimental Work</a:t>
            </a:r>
            <a:endParaRPr lang="en-US" sz="8000" b="1" dirty="0">
              <a:solidFill>
                <a:srgbClr val="000000"/>
              </a:solidFill>
              <a:latin typeface="Times New Roman" panose="02020603050405020304" pitchFamily="18" charset="0"/>
              <a:ea typeface="Bobby Jones"/>
              <a:cs typeface="Times New Roman" panose="02020603050405020304" pitchFamily="18" charset="0"/>
              <a:sym typeface="Bobby Jones"/>
            </a:endParaRPr>
          </a:p>
        </p:txBody>
      </p:sp>
      <p:sp>
        <p:nvSpPr>
          <p:cNvPr id="7" name="Rectangle 1"/>
          <p:cNvSpPr>
            <a:spLocks noChangeArrowheads="1"/>
          </p:cNvSpPr>
          <p:nvPr/>
        </p:nvSpPr>
        <p:spPr bwMode="auto">
          <a:xfrm>
            <a:off x="792168" y="2166004"/>
            <a:ext cx="16129398" cy="7478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3200" b="1" i="0" u="none" strike="noStrike" cap="none" normalizeH="0" baseline="0" dirty="0">
                <a:ln>
                  <a:noFill/>
                </a:ln>
                <a:solidFill>
                  <a:schemeClr val="tx1"/>
                </a:solidFill>
                <a:effectLst/>
                <a:latin typeface="Arial" pitchFamily="34" charset="0"/>
                <a:cs typeface="Arial" pitchFamily="34" charset="0"/>
              </a:rPr>
              <a:t>Code Modules:</a:t>
            </a:r>
            <a:endParaRPr kumimoji="0" lang="en-US" sz="3200" b="0" i="0" u="none" strike="noStrike" cap="none" normalizeH="0" baseline="0" dirty="0">
              <a:ln>
                <a:noFill/>
              </a:ln>
              <a:solidFill>
                <a:schemeClr val="tx1"/>
              </a:solidFill>
              <a:effectLst/>
              <a:latin typeface="Arial" pitchFamily="34" charset="0"/>
              <a:cs typeface="Arial" pitchFamily="34" charset="0"/>
            </a:endParaRPr>
          </a:p>
          <a:p>
            <a:pPr marL="457200" marR="0" lvl="0" indent="-457200" algn="l"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200" b="1" i="0" u="none" strike="noStrike" cap="none" normalizeH="0" baseline="0" dirty="0">
                <a:ln>
                  <a:noFill/>
                </a:ln>
                <a:solidFill>
                  <a:schemeClr val="tx1"/>
                </a:solidFill>
                <a:effectLst/>
                <a:latin typeface="Arial" pitchFamily="34" charset="0"/>
                <a:cs typeface="Arial" pitchFamily="34" charset="0"/>
              </a:rPr>
              <a:t>Client Module:</a:t>
            </a:r>
            <a:r>
              <a:rPr kumimoji="0" lang="en-US" sz="3200" b="0" i="0" u="none" strike="noStrike" cap="none" normalizeH="0" baseline="0" dirty="0">
                <a:ln>
                  <a:noFill/>
                </a:ln>
                <a:solidFill>
                  <a:schemeClr val="tx1"/>
                </a:solidFill>
                <a:effectLst/>
                <a:latin typeface="Arial" pitchFamily="34" charset="0"/>
                <a:cs typeface="Arial" pitchFamily="34" charset="0"/>
              </a:rPr>
              <a:t> Handles encryption and decryption using the </a:t>
            </a:r>
            <a:r>
              <a:rPr kumimoji="0" lang="en-US" sz="3200" b="1" i="0" u="none" strike="noStrike" cap="none" normalizeH="0" baseline="0" dirty="0">
                <a:ln>
                  <a:noFill/>
                </a:ln>
                <a:solidFill>
                  <a:schemeClr val="tx1"/>
                </a:solidFill>
                <a:effectLst/>
                <a:latin typeface="Arial" pitchFamily="34" charset="0"/>
                <a:cs typeface="Arial" pitchFamily="34" charset="0"/>
              </a:rPr>
              <a:t>CKKS </a:t>
            </a:r>
            <a:r>
              <a:rPr kumimoji="0" lang="en-US" sz="3200" b="1" i="0" u="none" strike="noStrike" cap="none" normalizeH="0" baseline="0" dirty="0" err="1">
                <a:ln>
                  <a:noFill/>
                </a:ln>
                <a:solidFill>
                  <a:schemeClr val="tx1"/>
                </a:solidFill>
                <a:effectLst/>
                <a:latin typeface="Arial" pitchFamily="34" charset="0"/>
                <a:cs typeface="Arial" pitchFamily="34" charset="0"/>
              </a:rPr>
              <a:t>homomorphic</a:t>
            </a:r>
            <a:r>
              <a:rPr kumimoji="0" lang="en-US" sz="3200" b="1" i="0" u="none" strike="noStrike" cap="none" normalizeH="0" baseline="0" dirty="0">
                <a:ln>
                  <a:noFill/>
                </a:ln>
                <a:solidFill>
                  <a:schemeClr val="tx1"/>
                </a:solidFill>
                <a:effectLst/>
                <a:latin typeface="Arial" pitchFamily="34" charset="0"/>
                <a:cs typeface="Arial" pitchFamily="34" charset="0"/>
              </a:rPr>
              <a:t> encryption scheme</a:t>
            </a:r>
            <a:r>
              <a:rPr kumimoji="0" lang="en-US" sz="3200" b="0" i="0" u="none" strike="noStrike" cap="none" normalizeH="0" baseline="0" dirty="0">
                <a:ln>
                  <a:noFill/>
                </a:ln>
                <a:solidFill>
                  <a:schemeClr val="tx1"/>
                </a:solidFill>
                <a:effectLst/>
                <a:latin typeface="Arial" pitchFamily="34" charset="0"/>
                <a:cs typeface="Arial" pitchFamily="34" charset="0"/>
              </a:rPr>
              <a:t>.</a:t>
            </a:r>
          </a:p>
          <a:p>
            <a:pPr marL="457200" marR="0" lvl="0" indent="-457200" algn="l"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200" b="1" i="0" u="none" strike="noStrike" cap="none" normalizeH="0" baseline="0" dirty="0">
                <a:ln>
                  <a:noFill/>
                </a:ln>
                <a:solidFill>
                  <a:schemeClr val="tx1"/>
                </a:solidFill>
                <a:effectLst/>
                <a:latin typeface="Arial" pitchFamily="34" charset="0"/>
                <a:cs typeface="Arial" pitchFamily="34" charset="0"/>
              </a:rPr>
              <a:t>Cloud Server Modules (Render &amp; </a:t>
            </a:r>
            <a:r>
              <a:rPr kumimoji="0" lang="en-US" sz="3200" b="1" i="0" u="none" strike="noStrike" cap="none" normalizeH="0" baseline="0" dirty="0" err="1">
                <a:ln>
                  <a:noFill/>
                </a:ln>
                <a:solidFill>
                  <a:schemeClr val="tx1"/>
                </a:solidFill>
                <a:effectLst/>
                <a:latin typeface="Arial" pitchFamily="34" charset="0"/>
                <a:cs typeface="Arial" pitchFamily="34" charset="0"/>
              </a:rPr>
              <a:t>Replit</a:t>
            </a:r>
            <a:r>
              <a:rPr kumimoji="0" lang="en-US" sz="3200" b="1" i="0" u="none" strike="noStrike" cap="none" normalizeH="0" baseline="0" dirty="0">
                <a:ln>
                  <a:noFill/>
                </a:ln>
                <a:solidFill>
                  <a:schemeClr val="tx1"/>
                </a:solidFill>
                <a:effectLst/>
                <a:latin typeface="Arial" pitchFamily="34" charset="0"/>
                <a:cs typeface="Arial" pitchFamily="34" charset="0"/>
              </a:rPr>
              <a:t>):</a:t>
            </a:r>
            <a:r>
              <a:rPr kumimoji="0" lang="en-US" sz="3200" b="0" i="0" u="none" strike="noStrike" cap="none" normalizeH="0" baseline="0" dirty="0">
                <a:ln>
                  <a:noFill/>
                </a:ln>
                <a:solidFill>
                  <a:schemeClr val="tx1"/>
                </a:solidFill>
                <a:effectLst/>
                <a:latin typeface="Arial" pitchFamily="34" charset="0"/>
                <a:cs typeface="Arial" pitchFamily="34" charset="0"/>
              </a:rPr>
              <a:t> Perform encrypted computations (sum) on the received data without decrypting.</a:t>
            </a:r>
          </a:p>
          <a:p>
            <a:pPr marL="457200" marR="0" lvl="0" indent="-457200" algn="l"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200" b="1" i="0" u="none" strike="noStrike" cap="none" normalizeH="0" baseline="0" dirty="0">
                <a:ln>
                  <a:noFill/>
                </a:ln>
                <a:solidFill>
                  <a:schemeClr val="tx1"/>
                </a:solidFill>
                <a:effectLst/>
                <a:latin typeface="Arial" pitchFamily="34" charset="0"/>
                <a:cs typeface="Arial" pitchFamily="34" charset="0"/>
              </a:rPr>
              <a:t>Multi-Client Script:</a:t>
            </a:r>
            <a:r>
              <a:rPr kumimoji="0" lang="en-US" sz="3200" b="0" i="0" u="none" strike="noStrike" cap="none" normalizeH="0" baseline="0" dirty="0">
                <a:ln>
                  <a:noFill/>
                </a:ln>
                <a:solidFill>
                  <a:schemeClr val="tx1"/>
                </a:solidFill>
                <a:effectLst/>
                <a:latin typeface="Arial" pitchFamily="34" charset="0"/>
                <a:cs typeface="Arial" pitchFamily="34" charset="0"/>
              </a:rPr>
              <a:t> Connects the client with both cloud servers, sends encrypted data, and collects encrypted responses.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1" i="0" u="none" strike="noStrike" cap="none" normalizeH="0" baseline="0" dirty="0">
                <a:ln>
                  <a:noFill/>
                </a:ln>
                <a:solidFill>
                  <a:schemeClr val="tx1"/>
                </a:solidFill>
                <a:effectLst/>
                <a:latin typeface="Arial" pitchFamily="34" charset="0"/>
                <a:cs typeface="Arial" pitchFamily="34" charset="0"/>
              </a:rPr>
              <a:t>Folder Structure:</a:t>
            </a:r>
            <a:endParaRPr kumimoji="0" lang="en-US" sz="3200" b="0" i="0" u="none" strike="noStrike" cap="none" normalizeH="0" baseline="0" dirty="0">
              <a:ln>
                <a:noFill/>
              </a:ln>
              <a:solidFill>
                <a:schemeClr val="tx1"/>
              </a:solidFill>
              <a:effectLst/>
              <a:latin typeface="Arial" pitchFamily="34" charset="0"/>
              <a:cs typeface="Arial" pitchFamily="34" charset="0"/>
            </a:endParaRPr>
          </a:p>
          <a:p>
            <a:pPr marL="457200" marR="0" lvl="0" indent="-457200" algn="l"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200" b="0" i="0" u="none" strike="noStrike" cap="none" normalizeH="0" baseline="0" dirty="0">
                <a:ln>
                  <a:noFill/>
                </a:ln>
                <a:solidFill>
                  <a:schemeClr val="tx1"/>
                </a:solidFill>
                <a:effectLst/>
                <a:latin typeface="Arial Unicode MS" pitchFamily="34" charset="-128"/>
                <a:cs typeface="Arial" pitchFamily="34" charset="0"/>
              </a:rPr>
              <a:t>HE_TENSEAL/</a:t>
            </a:r>
            <a:r>
              <a:rPr kumimoji="0" lang="en-US" sz="3200" b="0" i="0" u="none" strike="noStrike" cap="none" normalizeH="0" baseline="0" dirty="0">
                <a:ln>
                  <a:noFill/>
                </a:ln>
                <a:solidFill>
                  <a:schemeClr val="tx1"/>
                </a:solidFill>
                <a:effectLst/>
                <a:latin typeface="Arial" pitchFamily="34" charset="0"/>
                <a:cs typeface="Arial" pitchFamily="34" charset="0"/>
              </a:rPr>
              <a:t> → Contains client-side files for encryption, computation, and decryption.</a:t>
            </a:r>
          </a:p>
          <a:p>
            <a:pPr marL="457200" marR="0" lvl="0" indent="-457200" algn="l"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200" b="0" i="0" u="none" strike="noStrike" cap="none" normalizeH="0" baseline="0" dirty="0" err="1">
                <a:ln>
                  <a:noFill/>
                </a:ln>
                <a:solidFill>
                  <a:schemeClr val="tx1"/>
                </a:solidFill>
                <a:effectLst/>
                <a:latin typeface="Arial Unicode MS" pitchFamily="34" charset="-128"/>
                <a:cs typeface="Arial" pitchFamily="34" charset="0"/>
              </a:rPr>
              <a:t>HE_Cloud_API</a:t>
            </a:r>
            <a:r>
              <a:rPr kumimoji="0" lang="en-US" sz="3200" b="0" i="0" u="none" strike="noStrike" cap="none" normalizeH="0" baseline="0" dirty="0">
                <a:ln>
                  <a:noFill/>
                </a:ln>
                <a:solidFill>
                  <a:schemeClr val="tx1"/>
                </a:solidFill>
                <a:effectLst/>
                <a:latin typeface="Arial Unicode MS" pitchFamily="34" charset="-128"/>
                <a:cs typeface="Arial" pitchFamily="34" charset="0"/>
              </a:rPr>
              <a:t>/</a:t>
            </a:r>
            <a:r>
              <a:rPr kumimoji="0" lang="en-US" sz="3200" b="0" i="0" u="none" strike="noStrike" cap="none" normalizeH="0" baseline="0" dirty="0">
                <a:ln>
                  <a:noFill/>
                </a:ln>
                <a:solidFill>
                  <a:schemeClr val="tx1"/>
                </a:solidFill>
                <a:effectLst/>
                <a:latin typeface="Arial" pitchFamily="34" charset="0"/>
                <a:cs typeface="Arial" pitchFamily="34" charset="0"/>
              </a:rPr>
              <a:t> → Cloud 1 (Render) server for secure encrypted computation.</a:t>
            </a:r>
          </a:p>
          <a:p>
            <a:pPr marL="457200" marR="0" lvl="0" indent="-457200" algn="l"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200" b="0" i="0" u="none" strike="noStrike" cap="none" normalizeH="0" baseline="0" dirty="0" err="1">
                <a:ln>
                  <a:noFill/>
                </a:ln>
                <a:solidFill>
                  <a:schemeClr val="tx1"/>
                </a:solidFill>
                <a:effectLst/>
                <a:latin typeface="Arial Unicode MS" pitchFamily="34" charset="-128"/>
                <a:cs typeface="Arial" pitchFamily="34" charset="0"/>
              </a:rPr>
              <a:t>HE_Cloud_API_REPLIT</a:t>
            </a:r>
            <a:r>
              <a:rPr kumimoji="0" lang="en-US" sz="3200" b="0" i="0" u="none" strike="noStrike" cap="none" normalizeH="0" baseline="0" dirty="0">
                <a:ln>
                  <a:noFill/>
                </a:ln>
                <a:solidFill>
                  <a:schemeClr val="tx1"/>
                </a:solidFill>
                <a:effectLst/>
                <a:latin typeface="Arial Unicode MS" pitchFamily="34" charset="-128"/>
                <a:cs typeface="Arial" pitchFamily="34" charset="0"/>
              </a:rPr>
              <a:t>/</a:t>
            </a:r>
            <a:r>
              <a:rPr kumimoji="0" lang="en-US" sz="3200" b="0" i="0" u="none" strike="noStrike" cap="none" normalizeH="0" baseline="0" dirty="0">
                <a:ln>
                  <a:noFill/>
                </a:ln>
                <a:solidFill>
                  <a:schemeClr val="tx1"/>
                </a:solidFill>
                <a:effectLst/>
                <a:latin typeface="Arial" pitchFamily="34" charset="0"/>
                <a:cs typeface="Arial" pitchFamily="34" charset="0"/>
              </a:rPr>
              <a:t> → Cloud 2 (</a:t>
            </a:r>
            <a:r>
              <a:rPr kumimoji="0" lang="en-US" sz="3200" b="0" i="0" u="none" strike="noStrike" cap="none" normalizeH="0" baseline="0" dirty="0" err="1">
                <a:ln>
                  <a:noFill/>
                </a:ln>
                <a:solidFill>
                  <a:schemeClr val="tx1"/>
                </a:solidFill>
                <a:effectLst/>
                <a:latin typeface="Arial" pitchFamily="34" charset="0"/>
                <a:cs typeface="Arial" pitchFamily="34" charset="0"/>
              </a:rPr>
              <a:t>Replit</a:t>
            </a:r>
            <a:r>
              <a:rPr kumimoji="0" lang="en-US" sz="3200" b="0" i="0" u="none" strike="noStrike" cap="none" normalizeH="0" baseline="0" dirty="0">
                <a:ln>
                  <a:noFill/>
                </a:ln>
                <a:solidFill>
                  <a:schemeClr val="tx1"/>
                </a:solidFill>
                <a:effectLst/>
                <a:latin typeface="Arial" pitchFamily="34" charset="0"/>
                <a:cs typeface="Arial" pitchFamily="34" charset="0"/>
              </a:rPr>
              <a:t>) server for parallel secure computation.</a:t>
            </a:r>
          </a:p>
          <a:p>
            <a:pPr marL="457200" marR="0" lvl="0" indent="-457200" algn="l"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3200" b="0" i="0" u="none" strike="noStrike" cap="none" normalizeH="0" baseline="0" dirty="0" err="1">
                <a:ln>
                  <a:noFill/>
                </a:ln>
                <a:solidFill>
                  <a:schemeClr val="tx1"/>
                </a:solidFill>
                <a:effectLst/>
                <a:latin typeface="Arial Unicode MS" pitchFamily="34" charset="-128"/>
                <a:cs typeface="Arial" pitchFamily="34" charset="0"/>
              </a:rPr>
              <a:t>cipher_store</a:t>
            </a:r>
            <a:r>
              <a:rPr kumimoji="0" lang="en-US" sz="3200" b="0" i="0" u="none" strike="noStrike" cap="none" normalizeH="0" baseline="0" dirty="0">
                <a:ln>
                  <a:noFill/>
                </a:ln>
                <a:solidFill>
                  <a:schemeClr val="tx1"/>
                </a:solidFill>
                <a:effectLst/>
                <a:latin typeface="Arial Unicode MS" pitchFamily="34" charset="-128"/>
                <a:cs typeface="Arial" pitchFamily="34" charset="0"/>
              </a:rPr>
              <a:t>/</a:t>
            </a:r>
            <a:r>
              <a:rPr kumimoji="0" lang="en-US" sz="3200" b="0" i="0" u="none" strike="noStrike" cap="none" normalizeH="0" baseline="0" dirty="0">
                <a:ln>
                  <a:noFill/>
                </a:ln>
                <a:solidFill>
                  <a:schemeClr val="tx1"/>
                </a:solidFill>
                <a:effectLst/>
                <a:latin typeface="Arial" pitchFamily="34" charset="0"/>
                <a:cs typeface="Arial" pitchFamily="34" charset="0"/>
              </a:rPr>
              <a:t> → Stores encrypted data, context files, and computed results.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Arial" pitchFamily="34" charset="0"/>
                <a:cs typeface="Arial"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357878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62D70A53-6A6E-6B7B-9B95-01CC4E476F6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3E1B726-2977-5991-A1AA-7E8D8AAF35A5}"/>
              </a:ext>
            </a:extLst>
          </p:cNvPr>
          <p:cNvGrpSpPr/>
          <p:nvPr/>
        </p:nvGrpSpPr>
        <p:grpSpPr>
          <a:xfrm>
            <a:off x="247650" y="345295"/>
            <a:ext cx="17256534" cy="9053457"/>
            <a:chOff x="0" y="0"/>
            <a:chExt cx="4544931" cy="2384450"/>
          </a:xfrm>
        </p:grpSpPr>
        <p:sp>
          <p:nvSpPr>
            <p:cNvPr id="3" name="Freeform 3">
              <a:extLst>
                <a:ext uri="{FF2B5EF4-FFF2-40B4-BE49-F238E27FC236}">
                  <a16:creationId xmlns:a16="http://schemas.microsoft.com/office/drawing/2014/main" id="{63419F6D-591B-3616-C333-E0B47B22323F}"/>
                </a:ext>
              </a:extLst>
            </p:cNvPr>
            <p:cNvSpPr/>
            <p:nvPr/>
          </p:nvSpPr>
          <p:spPr>
            <a:xfrm>
              <a:off x="0" y="0"/>
              <a:ext cx="4544931" cy="2384450"/>
            </a:xfrm>
            <a:custGeom>
              <a:avLst/>
              <a:gdLst/>
              <a:ahLst/>
              <a:cxnLst/>
              <a:rect l="l" t="t" r="r" b="b"/>
              <a:pathLst>
                <a:path w="4544931" h="2384450">
                  <a:moveTo>
                    <a:pt x="11216" y="0"/>
                  </a:moveTo>
                  <a:lnTo>
                    <a:pt x="4533715" y="0"/>
                  </a:lnTo>
                  <a:cubicBezTo>
                    <a:pt x="4539909" y="0"/>
                    <a:pt x="4544931" y="5022"/>
                    <a:pt x="4544931" y="11216"/>
                  </a:cubicBezTo>
                  <a:lnTo>
                    <a:pt x="4544931" y="2373234"/>
                  </a:lnTo>
                  <a:cubicBezTo>
                    <a:pt x="4544931" y="2376208"/>
                    <a:pt x="4543749" y="2379061"/>
                    <a:pt x="4541646" y="2381165"/>
                  </a:cubicBezTo>
                  <a:cubicBezTo>
                    <a:pt x="4539542" y="2383268"/>
                    <a:pt x="4536689" y="2384450"/>
                    <a:pt x="4533715" y="2384450"/>
                  </a:cubicBezTo>
                  <a:lnTo>
                    <a:pt x="11216" y="2384450"/>
                  </a:lnTo>
                  <a:cubicBezTo>
                    <a:pt x="5022" y="2384450"/>
                    <a:pt x="0" y="2379428"/>
                    <a:pt x="0" y="2373234"/>
                  </a:cubicBezTo>
                  <a:lnTo>
                    <a:pt x="0" y="11216"/>
                  </a:lnTo>
                  <a:cubicBezTo>
                    <a:pt x="0" y="5022"/>
                    <a:pt x="5022" y="0"/>
                    <a:pt x="11216" y="0"/>
                  </a:cubicBezTo>
                  <a:close/>
                </a:path>
              </a:pathLst>
            </a:custGeom>
            <a:solidFill>
              <a:srgbClr val="FFFFFF"/>
            </a:solidFill>
          </p:spPr>
        </p:sp>
        <p:sp>
          <p:nvSpPr>
            <p:cNvPr id="4" name="TextBox 4">
              <a:extLst>
                <a:ext uri="{FF2B5EF4-FFF2-40B4-BE49-F238E27FC236}">
                  <a16:creationId xmlns:a16="http://schemas.microsoft.com/office/drawing/2014/main" id="{8D924163-5799-5236-EE90-FB5B20F43488}"/>
                </a:ext>
              </a:extLst>
            </p:cNvPr>
            <p:cNvSpPr txBox="1"/>
            <p:nvPr/>
          </p:nvSpPr>
          <p:spPr>
            <a:xfrm>
              <a:off x="0" y="-38100"/>
              <a:ext cx="4544931" cy="242255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a:extLst>
              <a:ext uri="{FF2B5EF4-FFF2-40B4-BE49-F238E27FC236}">
                <a16:creationId xmlns:a16="http://schemas.microsoft.com/office/drawing/2014/main" id="{AAB453E8-F0C4-C8F9-0FC2-2FC10F266B68}"/>
              </a:ext>
            </a:extLst>
          </p:cNvPr>
          <p:cNvSpPr txBox="1"/>
          <p:nvPr/>
        </p:nvSpPr>
        <p:spPr>
          <a:xfrm>
            <a:off x="1143000" y="876300"/>
            <a:ext cx="14090572" cy="1196225"/>
          </a:xfrm>
          <a:prstGeom prst="rect">
            <a:avLst/>
          </a:prstGeom>
        </p:spPr>
        <p:txBody>
          <a:bodyPr lIns="0" tIns="0" rIns="0" bIns="0" rtlCol="0" anchor="t">
            <a:spAutoFit/>
          </a:bodyPr>
          <a:lstStyle/>
          <a:p>
            <a:pPr lvl="0">
              <a:lnSpc>
                <a:spcPts val="9713"/>
              </a:lnSpc>
            </a:pPr>
            <a:r>
              <a:rPr lang="en-IN" sz="8000" b="1" dirty="0">
                <a:solidFill>
                  <a:srgbClr val="000000"/>
                </a:solidFill>
                <a:latin typeface="Times New Roman" panose="02020603050405020304" pitchFamily="18" charset="0"/>
                <a:ea typeface="Bobby Jones"/>
                <a:cs typeface="Times New Roman" panose="02020603050405020304" pitchFamily="18" charset="0"/>
                <a:sym typeface="Bobby Jones"/>
              </a:rPr>
              <a:t>Experimental Work</a:t>
            </a:r>
            <a:endParaRPr lang="en-US" sz="8000" b="1" dirty="0">
              <a:solidFill>
                <a:srgbClr val="000000"/>
              </a:solidFill>
              <a:latin typeface="Times New Roman" panose="02020603050405020304" pitchFamily="18" charset="0"/>
              <a:ea typeface="Bobby Jones"/>
              <a:cs typeface="Times New Roman" panose="02020603050405020304" pitchFamily="18" charset="0"/>
              <a:sym typeface="Bobby Jones"/>
            </a:endParaRPr>
          </a:p>
        </p:txBody>
      </p:sp>
      <p:sp>
        <p:nvSpPr>
          <p:cNvPr id="5" name="Rectangle 4"/>
          <p:cNvSpPr/>
          <p:nvPr/>
        </p:nvSpPr>
        <p:spPr>
          <a:xfrm>
            <a:off x="990600" y="2400300"/>
            <a:ext cx="5715000" cy="4524315"/>
          </a:xfrm>
          <a:prstGeom prst="rect">
            <a:avLst/>
          </a:prstGeom>
        </p:spPr>
        <p:txBody>
          <a:bodyPr wrap="square">
            <a:spAutoFit/>
          </a:bodyPr>
          <a:lstStyle/>
          <a:p>
            <a:r>
              <a:rPr lang="en-US" sz="3200" b="1" dirty="0"/>
              <a:t>Pre-Configured Libraries:</a:t>
            </a:r>
            <a:endParaRPr lang="en-US" sz="3200" dirty="0"/>
          </a:p>
          <a:p>
            <a:pPr marL="457200" indent="-457200">
              <a:buFont typeface="Wingdings" pitchFamily="2" charset="2"/>
              <a:buChar char="Ø"/>
            </a:pPr>
            <a:r>
              <a:rPr lang="en-US" sz="3200" b="1" dirty="0" err="1"/>
              <a:t>TenSEAL</a:t>
            </a:r>
            <a:r>
              <a:rPr lang="en-US" sz="3200" b="1" dirty="0"/>
              <a:t>:</a:t>
            </a:r>
            <a:r>
              <a:rPr lang="en-US" sz="3200" dirty="0"/>
              <a:t> For </a:t>
            </a:r>
            <a:r>
              <a:rPr lang="en-US" sz="3200" dirty="0" err="1"/>
              <a:t>homomorphic</a:t>
            </a:r>
            <a:r>
              <a:rPr lang="en-US" sz="3200" dirty="0"/>
              <a:t> encryption and encrypted vector operations.</a:t>
            </a:r>
          </a:p>
          <a:p>
            <a:pPr marL="457200" indent="-457200">
              <a:buFont typeface="Wingdings" pitchFamily="2" charset="2"/>
              <a:buChar char="Ø"/>
            </a:pPr>
            <a:r>
              <a:rPr lang="en-US" sz="3200" b="1" dirty="0"/>
              <a:t>Flask:</a:t>
            </a:r>
            <a:r>
              <a:rPr lang="en-US" sz="3200" dirty="0"/>
              <a:t> For building and hosting cloud APIs.</a:t>
            </a:r>
          </a:p>
          <a:p>
            <a:pPr marL="457200" indent="-457200">
              <a:buFont typeface="Wingdings" pitchFamily="2" charset="2"/>
              <a:buChar char="Ø"/>
            </a:pPr>
            <a:r>
              <a:rPr lang="en-US" sz="3200" b="1" dirty="0" err="1"/>
              <a:t>NumPy</a:t>
            </a:r>
            <a:r>
              <a:rPr lang="en-US" sz="3200" b="1" dirty="0"/>
              <a:t> &amp; Requests:</a:t>
            </a:r>
            <a:r>
              <a:rPr lang="en-US" sz="3200" dirty="0"/>
              <a:t> For numerical operations and API communication.</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2800" y="1972149"/>
            <a:ext cx="9982201" cy="7209952"/>
          </a:xfrm>
          <a:prstGeom prst="rect">
            <a:avLst/>
          </a:prstGeom>
        </p:spPr>
      </p:pic>
    </p:spTree>
    <p:extLst>
      <p:ext uri="{BB962C8B-B14F-4D97-AF65-F5344CB8AC3E}">
        <p14:creationId xmlns:p14="http://schemas.microsoft.com/office/powerpoint/2010/main" val="2136908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262ABC4B-37D8-4218-BDD8-6DF6A00C0C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8EBD6514-2C88-C504-BC63-169EEADF2E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8073713" cy="4762500"/>
          </a:xfrm>
          <a:prstGeom prst="rect">
            <a:avLst/>
          </a:prstGeom>
        </p:spPr>
      </p:pic>
      <p:pic>
        <p:nvPicPr>
          <p:cNvPr id="8" name="Picture 7">
            <a:extLst>
              <a:ext uri="{FF2B5EF4-FFF2-40B4-BE49-F238E27FC236}">
                <a16:creationId xmlns:a16="http://schemas.microsoft.com/office/drawing/2014/main" id="{E1979ECA-FD71-F257-B85D-A3883797F2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3713" y="-1"/>
            <a:ext cx="10214287" cy="10312811"/>
          </a:xfrm>
          <a:prstGeom prst="rect">
            <a:avLst/>
          </a:prstGeom>
        </p:spPr>
      </p:pic>
      <p:pic>
        <p:nvPicPr>
          <p:cNvPr id="10" name="Picture 9">
            <a:extLst>
              <a:ext uri="{FF2B5EF4-FFF2-40B4-BE49-F238E27FC236}">
                <a16:creationId xmlns:a16="http://schemas.microsoft.com/office/drawing/2014/main" id="{C0BC4805-C201-4DEE-E71A-719307765E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88" y="4550435"/>
            <a:ext cx="8070226" cy="573251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339ED2-9AF0-EDBD-432A-D746EF0DAD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7" y="4045"/>
            <a:ext cx="8835713" cy="10473455"/>
          </a:xfrm>
          <a:prstGeom prst="rect">
            <a:avLst/>
          </a:prstGeom>
        </p:spPr>
      </p:pic>
      <p:pic>
        <p:nvPicPr>
          <p:cNvPr id="5" name="Picture 4">
            <a:extLst>
              <a:ext uri="{FF2B5EF4-FFF2-40B4-BE49-F238E27FC236}">
                <a16:creationId xmlns:a16="http://schemas.microsoft.com/office/drawing/2014/main" id="{5D22D01A-E154-3CEA-DDE5-E6EF293448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39200" y="4045"/>
            <a:ext cx="9445312" cy="10473455"/>
          </a:xfrm>
          <a:prstGeom prst="rect">
            <a:avLst/>
          </a:prstGeom>
        </p:spPr>
      </p:pic>
    </p:spTree>
    <p:extLst>
      <p:ext uri="{BB962C8B-B14F-4D97-AF65-F5344CB8AC3E}">
        <p14:creationId xmlns:p14="http://schemas.microsoft.com/office/powerpoint/2010/main" val="2774970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grpSp>
        <p:nvGrpSpPr>
          <p:cNvPr id="2" name="Group 2"/>
          <p:cNvGrpSpPr/>
          <p:nvPr/>
        </p:nvGrpSpPr>
        <p:grpSpPr>
          <a:xfrm>
            <a:off x="339887" y="616771"/>
            <a:ext cx="17256534" cy="9053457"/>
            <a:chOff x="0" y="0"/>
            <a:chExt cx="4544931" cy="2384450"/>
          </a:xfrm>
        </p:grpSpPr>
        <p:sp>
          <p:nvSpPr>
            <p:cNvPr id="3" name="Freeform 3"/>
            <p:cNvSpPr/>
            <p:nvPr/>
          </p:nvSpPr>
          <p:spPr>
            <a:xfrm>
              <a:off x="0" y="0"/>
              <a:ext cx="4544931" cy="2384450"/>
            </a:xfrm>
            <a:custGeom>
              <a:avLst/>
              <a:gdLst/>
              <a:ahLst/>
              <a:cxnLst/>
              <a:rect l="l" t="t" r="r" b="b"/>
              <a:pathLst>
                <a:path w="4544931" h="2384450">
                  <a:moveTo>
                    <a:pt x="11216" y="0"/>
                  </a:moveTo>
                  <a:lnTo>
                    <a:pt x="4533715" y="0"/>
                  </a:lnTo>
                  <a:cubicBezTo>
                    <a:pt x="4539909" y="0"/>
                    <a:pt x="4544931" y="5022"/>
                    <a:pt x="4544931" y="11216"/>
                  </a:cubicBezTo>
                  <a:lnTo>
                    <a:pt x="4544931" y="2373234"/>
                  </a:lnTo>
                  <a:cubicBezTo>
                    <a:pt x="4544931" y="2376208"/>
                    <a:pt x="4543749" y="2379061"/>
                    <a:pt x="4541646" y="2381165"/>
                  </a:cubicBezTo>
                  <a:cubicBezTo>
                    <a:pt x="4539542" y="2383268"/>
                    <a:pt x="4536689" y="2384450"/>
                    <a:pt x="4533715" y="2384450"/>
                  </a:cubicBezTo>
                  <a:lnTo>
                    <a:pt x="11216" y="2384450"/>
                  </a:lnTo>
                  <a:cubicBezTo>
                    <a:pt x="5022" y="2384450"/>
                    <a:pt x="0" y="2379428"/>
                    <a:pt x="0" y="2373234"/>
                  </a:cubicBezTo>
                  <a:lnTo>
                    <a:pt x="0" y="11216"/>
                  </a:lnTo>
                  <a:cubicBezTo>
                    <a:pt x="0" y="5022"/>
                    <a:pt x="5022" y="0"/>
                    <a:pt x="11216" y="0"/>
                  </a:cubicBezTo>
                  <a:close/>
                </a:path>
              </a:pathLst>
            </a:custGeom>
            <a:solidFill>
              <a:srgbClr val="FFFFFF"/>
            </a:solidFill>
          </p:spPr>
        </p:sp>
        <p:sp>
          <p:nvSpPr>
            <p:cNvPr id="4" name="TextBox 4"/>
            <p:cNvSpPr txBox="1"/>
            <p:nvPr/>
          </p:nvSpPr>
          <p:spPr>
            <a:xfrm>
              <a:off x="0" y="-38100"/>
              <a:ext cx="4544931" cy="242255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838200" y="2072525"/>
            <a:ext cx="16154400" cy="7386638"/>
          </a:xfrm>
          <a:prstGeom prst="rect">
            <a:avLst/>
          </a:prstGeom>
        </p:spPr>
        <p:txBody>
          <a:bodyPr wrap="square" lIns="0" tIns="0" rIns="0" bIns="0" rtlCol="0" anchor="t">
            <a:spAutoFit/>
          </a:bodyPr>
          <a:lstStyle/>
          <a:p>
            <a:pPr marL="457200" indent="-457200">
              <a:buFont typeface="Wingdings" pitchFamily="2" charset="2"/>
              <a:buChar char="Ø"/>
            </a:pPr>
            <a:r>
              <a:rPr lang="en-US" sz="3200" dirty="0"/>
              <a:t>The proposed </a:t>
            </a:r>
            <a:r>
              <a:rPr lang="en-US" sz="3200" b="1" dirty="0"/>
              <a:t>multi-cloud homomorphic encryption system</a:t>
            </a:r>
            <a:r>
              <a:rPr lang="en-US" sz="3200" dirty="0"/>
              <a:t> 100% done, and successfully ensures </a:t>
            </a:r>
            <a:r>
              <a:rPr lang="en-US" sz="3200" b="1" dirty="0"/>
              <a:t>data privacy</a:t>
            </a:r>
            <a:r>
              <a:rPr lang="en-US" sz="3200" dirty="0"/>
              <a:t> while performing computations.</a:t>
            </a:r>
          </a:p>
          <a:p>
            <a:pPr marL="457200" indent="-457200">
              <a:buFont typeface="Wingdings" pitchFamily="2" charset="2"/>
              <a:buChar char="Ø"/>
            </a:pPr>
            <a:r>
              <a:rPr lang="en-US" sz="3200" dirty="0"/>
              <a:t>Both cloud servers (</a:t>
            </a:r>
            <a:r>
              <a:rPr lang="en-US" sz="3200" b="1" dirty="0"/>
              <a:t>Render</a:t>
            </a:r>
            <a:r>
              <a:rPr lang="en-US" sz="3200" dirty="0"/>
              <a:t> and </a:t>
            </a:r>
            <a:r>
              <a:rPr lang="en-US" sz="3200" b="1" dirty="0" err="1"/>
              <a:t>Replit</a:t>
            </a:r>
            <a:r>
              <a:rPr lang="en-US" sz="3200" dirty="0"/>
              <a:t>) process data </a:t>
            </a:r>
            <a:r>
              <a:rPr lang="en-US" sz="3200" b="1" dirty="0"/>
              <a:t>securely and independently</a:t>
            </a:r>
            <a:r>
              <a:rPr lang="en-US" sz="3200" dirty="0"/>
              <a:t>, providing consistent results.</a:t>
            </a:r>
          </a:p>
          <a:p>
            <a:pPr marL="457200" indent="-457200">
              <a:buFont typeface="Wingdings" pitchFamily="2" charset="2"/>
              <a:buChar char="Ø"/>
            </a:pPr>
            <a:r>
              <a:rPr lang="en-US" sz="3200" dirty="0"/>
              <a:t>Example result:</a:t>
            </a:r>
          </a:p>
          <a:p>
            <a:r>
              <a:rPr lang="en-US" sz="3200" b="1" dirty="0"/>
              <a:t>     Input:</a:t>
            </a:r>
            <a:r>
              <a:rPr lang="en-US" sz="3200" dirty="0"/>
              <a:t> [10, 20, 30]</a:t>
            </a:r>
          </a:p>
          <a:p>
            <a:r>
              <a:rPr lang="en-US" sz="3200" b="1" dirty="0"/>
              <a:t>     Cloud 1 &amp; Cloud 2 Outputs:</a:t>
            </a:r>
            <a:endParaRPr lang="en-US" sz="3200" dirty="0"/>
          </a:p>
          <a:p>
            <a:pPr lvl="1"/>
            <a:r>
              <a:rPr lang="en-US" sz="3200" dirty="0"/>
              <a:t> Sum = 60.0 units.</a:t>
            </a:r>
          </a:p>
          <a:p>
            <a:pPr lvl="1"/>
            <a:r>
              <a:rPr lang="en-US" sz="3200" dirty="0"/>
              <a:t>The </a:t>
            </a:r>
            <a:r>
              <a:rPr lang="en-US" sz="3200" b="1" dirty="0"/>
              <a:t>client</a:t>
            </a:r>
            <a:r>
              <a:rPr lang="en-US" sz="3200" dirty="0"/>
              <a:t> decrypts the results correctly, confirming that </a:t>
            </a:r>
            <a:r>
              <a:rPr lang="en-US" sz="3200" b="1" dirty="0"/>
              <a:t>computations were performed on encrypted data</a:t>
            </a:r>
            <a:r>
              <a:rPr lang="en-US" sz="3200" dirty="0"/>
              <a:t>.</a:t>
            </a:r>
          </a:p>
          <a:p>
            <a:pPr marL="457200" indent="-457200">
              <a:buFont typeface="Wingdings" pitchFamily="2" charset="2"/>
              <a:buChar char="Ø"/>
            </a:pPr>
            <a:r>
              <a:rPr lang="en-US" sz="3200" dirty="0"/>
              <a:t>Demonstrates </a:t>
            </a:r>
            <a:r>
              <a:rPr lang="en-US" sz="3200" b="1" dirty="0"/>
              <a:t>data confidentiality</a:t>
            </a:r>
            <a:r>
              <a:rPr lang="en-US" sz="3200" dirty="0"/>
              <a:t>, </a:t>
            </a:r>
            <a:r>
              <a:rPr lang="en-US" sz="3200" b="1" dirty="0"/>
              <a:t>fault tolerance</a:t>
            </a:r>
            <a:r>
              <a:rPr lang="en-US" sz="3200" dirty="0"/>
              <a:t>, and </a:t>
            </a:r>
            <a:r>
              <a:rPr lang="en-US" sz="3200" b="1" dirty="0"/>
              <a:t>reliability</a:t>
            </a:r>
            <a:r>
              <a:rPr lang="en-US" sz="3200" dirty="0"/>
              <a:t> — even if one cloud fails, the other can continue computation.</a:t>
            </a:r>
          </a:p>
          <a:p>
            <a:pPr marL="457200" indent="-457200">
              <a:buFont typeface="Wingdings" pitchFamily="2" charset="2"/>
              <a:buChar char="Ø"/>
            </a:pPr>
            <a:r>
              <a:rPr lang="en-US" sz="3200" dirty="0"/>
              <a:t>Overall, the system provides </a:t>
            </a:r>
            <a:r>
              <a:rPr lang="en-US" sz="3200" b="1" dirty="0"/>
              <a:t>secure, scalable, and privacy-preserving computation</a:t>
            </a:r>
            <a:r>
              <a:rPr lang="en-US" sz="3200" dirty="0"/>
              <a:t> suitable for real-world applications like hospitals, finance, and universities.</a:t>
            </a:r>
          </a:p>
          <a:p>
            <a:pPr marL="457200" indent="-457200">
              <a:buFont typeface="Wingdings" pitchFamily="2" charset="2"/>
              <a:buChar char="Ø"/>
            </a:pPr>
            <a:endParaRPr lang="en-US" sz="3200" dirty="0">
              <a:latin typeface="Calibri"/>
              <a:ea typeface="Calibri"/>
              <a:cs typeface="Calibri"/>
            </a:endParaRPr>
          </a:p>
        </p:txBody>
      </p:sp>
      <p:sp>
        <p:nvSpPr>
          <p:cNvPr id="7" name="TextBox 7"/>
          <p:cNvSpPr txBox="1"/>
          <p:nvPr/>
        </p:nvSpPr>
        <p:spPr>
          <a:xfrm>
            <a:off x="838199" y="876300"/>
            <a:ext cx="14849087" cy="1196225"/>
          </a:xfrm>
          <a:prstGeom prst="rect">
            <a:avLst/>
          </a:prstGeom>
        </p:spPr>
        <p:txBody>
          <a:bodyPr lIns="0" tIns="0" rIns="0" bIns="0" rtlCol="0" anchor="t">
            <a:spAutoFit/>
          </a:bodyPr>
          <a:lstStyle/>
          <a:p>
            <a:pPr lvl="0">
              <a:lnSpc>
                <a:spcPts val="9713"/>
              </a:lnSpc>
            </a:pPr>
            <a:r>
              <a:rPr lang="en-IN" sz="8000" b="1" dirty="0">
                <a:latin typeface="Times New Roman" panose="02020603050405020304" pitchFamily="18" charset="0"/>
                <a:cs typeface="Times New Roman" panose="02020603050405020304" pitchFamily="18" charset="0"/>
              </a:rPr>
              <a:t>Results &amp; Discussion </a:t>
            </a:r>
            <a:endParaRPr lang="en-US" sz="7897" b="1" dirty="0">
              <a:solidFill>
                <a:srgbClr val="000000"/>
              </a:solidFill>
              <a:latin typeface="Times New Roman" panose="02020603050405020304" pitchFamily="18" charset="0"/>
              <a:ea typeface="Bobby Jones"/>
              <a:cs typeface="Times New Roman" panose="02020603050405020304" pitchFamily="18" charset="0"/>
              <a:sym typeface="Bobby Jone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grpSp>
        <p:nvGrpSpPr>
          <p:cNvPr id="2" name="Group 2"/>
          <p:cNvGrpSpPr/>
          <p:nvPr/>
        </p:nvGrpSpPr>
        <p:grpSpPr>
          <a:xfrm>
            <a:off x="515733" y="616771"/>
            <a:ext cx="17256534" cy="9053457"/>
            <a:chOff x="0" y="0"/>
            <a:chExt cx="4544931" cy="2384450"/>
          </a:xfrm>
        </p:grpSpPr>
        <p:sp>
          <p:nvSpPr>
            <p:cNvPr id="3" name="Freeform 3"/>
            <p:cNvSpPr/>
            <p:nvPr/>
          </p:nvSpPr>
          <p:spPr>
            <a:xfrm>
              <a:off x="0" y="0"/>
              <a:ext cx="4544931" cy="2384450"/>
            </a:xfrm>
            <a:custGeom>
              <a:avLst/>
              <a:gdLst/>
              <a:ahLst/>
              <a:cxnLst/>
              <a:rect l="l" t="t" r="r" b="b"/>
              <a:pathLst>
                <a:path w="4544931" h="2384450">
                  <a:moveTo>
                    <a:pt x="11216" y="0"/>
                  </a:moveTo>
                  <a:lnTo>
                    <a:pt x="4533715" y="0"/>
                  </a:lnTo>
                  <a:cubicBezTo>
                    <a:pt x="4539909" y="0"/>
                    <a:pt x="4544931" y="5022"/>
                    <a:pt x="4544931" y="11216"/>
                  </a:cubicBezTo>
                  <a:lnTo>
                    <a:pt x="4544931" y="2373234"/>
                  </a:lnTo>
                  <a:cubicBezTo>
                    <a:pt x="4544931" y="2376208"/>
                    <a:pt x="4543749" y="2379061"/>
                    <a:pt x="4541646" y="2381165"/>
                  </a:cubicBezTo>
                  <a:cubicBezTo>
                    <a:pt x="4539542" y="2383268"/>
                    <a:pt x="4536689" y="2384450"/>
                    <a:pt x="4533715" y="2384450"/>
                  </a:cubicBezTo>
                  <a:lnTo>
                    <a:pt x="11216" y="2384450"/>
                  </a:lnTo>
                  <a:cubicBezTo>
                    <a:pt x="5022" y="2384450"/>
                    <a:pt x="0" y="2379428"/>
                    <a:pt x="0" y="2373234"/>
                  </a:cubicBezTo>
                  <a:lnTo>
                    <a:pt x="0" y="11216"/>
                  </a:lnTo>
                  <a:cubicBezTo>
                    <a:pt x="0" y="5022"/>
                    <a:pt x="5022" y="0"/>
                    <a:pt x="11216" y="0"/>
                  </a:cubicBezTo>
                  <a:close/>
                </a:path>
              </a:pathLst>
            </a:custGeom>
            <a:solidFill>
              <a:srgbClr val="FFFFFF"/>
            </a:solidFill>
          </p:spPr>
        </p:sp>
        <p:sp>
          <p:nvSpPr>
            <p:cNvPr id="4" name="TextBox 4"/>
            <p:cNvSpPr txBox="1"/>
            <p:nvPr/>
          </p:nvSpPr>
          <p:spPr>
            <a:xfrm>
              <a:off x="0" y="-38100"/>
              <a:ext cx="4544931" cy="242255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371600" y="3390899"/>
            <a:ext cx="14097000" cy="5663089"/>
          </a:xfrm>
          <a:prstGeom prst="rect">
            <a:avLst/>
          </a:prstGeom>
        </p:spPr>
        <p:txBody>
          <a:bodyPr wrap="square" lIns="0" tIns="0" rIns="0" bIns="0" rtlCol="0" anchor="t">
            <a:spAutoFit/>
          </a:bodyPr>
          <a:lstStyle/>
          <a:p>
            <a:pPr marL="457200" indent="-457200">
              <a:buFont typeface="Wingdings" pitchFamily="2" charset="2"/>
              <a:buChar char="Ø"/>
            </a:pPr>
            <a:r>
              <a:rPr lang="en-US" sz="3200" dirty="0"/>
              <a:t>A </a:t>
            </a:r>
            <a:r>
              <a:rPr lang="en-US" sz="3200" b="1" dirty="0"/>
              <a:t>privacy-preserving data-sharing framework</a:t>
            </a:r>
            <a:r>
              <a:rPr lang="en-US" sz="3200" dirty="0"/>
              <a:t> using </a:t>
            </a:r>
            <a:r>
              <a:rPr lang="en-US" sz="3200" b="1" dirty="0" err="1"/>
              <a:t>homomorphic</a:t>
            </a:r>
            <a:r>
              <a:rPr lang="en-US" sz="3200" b="1" dirty="0"/>
              <a:t> encryption</a:t>
            </a:r>
            <a:r>
              <a:rPr lang="en-US" sz="3200" dirty="0"/>
              <a:t> across </a:t>
            </a:r>
            <a:r>
              <a:rPr lang="en-US" sz="3200" b="1" dirty="0"/>
              <a:t>multiple cloud servers</a:t>
            </a:r>
            <a:r>
              <a:rPr lang="en-US" sz="3200" dirty="0"/>
              <a:t> was 50% successfully developed.</a:t>
            </a:r>
          </a:p>
          <a:p>
            <a:pPr marL="457200" indent="-457200">
              <a:buFont typeface="Wingdings" pitchFamily="2" charset="2"/>
              <a:buChar char="Ø"/>
            </a:pPr>
            <a:r>
              <a:rPr lang="en-US" sz="3200" dirty="0"/>
              <a:t>The system allows </a:t>
            </a:r>
            <a:r>
              <a:rPr lang="en-US" sz="3200" b="1" dirty="0"/>
              <a:t>secure computations directly on encrypted data</a:t>
            </a:r>
            <a:r>
              <a:rPr lang="en-US" sz="3200" dirty="0"/>
              <a:t> without revealing the original information to any cloud provider.</a:t>
            </a:r>
          </a:p>
          <a:p>
            <a:pPr marL="457200" indent="-457200">
              <a:buFont typeface="Wingdings" pitchFamily="2" charset="2"/>
              <a:buChar char="Ø"/>
            </a:pPr>
            <a:r>
              <a:rPr lang="en-US" sz="3200" dirty="0"/>
              <a:t>Using a </a:t>
            </a:r>
            <a:r>
              <a:rPr lang="en-US" sz="3200" b="1" dirty="0"/>
              <a:t>multi-cloud approach</a:t>
            </a:r>
            <a:r>
              <a:rPr lang="en-US" sz="3200" dirty="0"/>
              <a:t> improves </a:t>
            </a:r>
            <a:r>
              <a:rPr lang="en-US" sz="3200" b="1" dirty="0"/>
              <a:t>data reliability</a:t>
            </a:r>
            <a:r>
              <a:rPr lang="en-US" sz="3200" dirty="0"/>
              <a:t>, </a:t>
            </a:r>
            <a:r>
              <a:rPr lang="en-US" sz="3200" b="1" dirty="0"/>
              <a:t>availability</a:t>
            </a:r>
            <a:r>
              <a:rPr lang="en-US" sz="3200" dirty="0"/>
              <a:t>, and </a:t>
            </a:r>
            <a:r>
              <a:rPr lang="en-US" sz="3200" b="1" dirty="0"/>
              <a:t>fault tolerance</a:t>
            </a:r>
            <a:r>
              <a:rPr lang="en-US" sz="3200" dirty="0"/>
              <a:t>.</a:t>
            </a:r>
          </a:p>
          <a:p>
            <a:pPr marL="457200" indent="-457200">
              <a:buFont typeface="Wingdings" pitchFamily="2" charset="2"/>
              <a:buChar char="Ø"/>
            </a:pPr>
            <a:r>
              <a:rPr lang="en-US" sz="3200" dirty="0"/>
              <a:t>Experimental results confirmed that both clouds produced </a:t>
            </a:r>
            <a:r>
              <a:rPr lang="en-US" sz="3200" b="1" dirty="0"/>
              <a:t>accurate and consistent results</a:t>
            </a:r>
            <a:r>
              <a:rPr lang="en-US" sz="3200" dirty="0"/>
              <a:t> while maintaining full </a:t>
            </a:r>
            <a:r>
              <a:rPr lang="en-US" sz="3200" b="1" dirty="0"/>
              <a:t>data confidentiality</a:t>
            </a:r>
            <a:r>
              <a:rPr lang="en-US" sz="3200" dirty="0"/>
              <a:t>.</a:t>
            </a:r>
          </a:p>
          <a:p>
            <a:pPr marL="457200" indent="-457200">
              <a:buFont typeface="Wingdings" pitchFamily="2" charset="2"/>
              <a:buChar char="Ø"/>
            </a:pPr>
            <a:r>
              <a:rPr lang="en-US" sz="3200" dirty="0"/>
              <a:t>The framework demonstrates strong potential for </a:t>
            </a:r>
            <a:r>
              <a:rPr lang="en-US" sz="3200" b="1" dirty="0"/>
              <a:t>real-world applications</a:t>
            </a:r>
            <a:r>
              <a:rPr lang="en-US" sz="3200" dirty="0"/>
              <a:t> in sectors like </a:t>
            </a:r>
            <a:r>
              <a:rPr lang="en-US" sz="3200" b="1" dirty="0"/>
              <a:t>healthcare, finance, and education</a:t>
            </a:r>
            <a:r>
              <a:rPr lang="en-US" sz="3200" dirty="0"/>
              <a:t>, where </a:t>
            </a:r>
            <a:r>
              <a:rPr lang="en-US" sz="3200" b="1" dirty="0"/>
              <a:t>data privacy is critical</a:t>
            </a:r>
            <a:endParaRPr lang="en-US" sz="3200" dirty="0"/>
          </a:p>
          <a:p>
            <a:pPr marL="457200" indent="-457200" algn="just">
              <a:lnSpc>
                <a:spcPct val="150000"/>
              </a:lnSpc>
              <a:buFont typeface="Wingdings" pitchFamily="2" charset="2"/>
              <a:buChar char="Ø"/>
            </a:pPr>
            <a:endParaRPr lang="en-US" sz="3200" dirty="0">
              <a:latin typeface="Times New Roman" panose="02020603050405020304" pitchFamily="18" charset="0"/>
              <a:cs typeface="Times New Roman" panose="02020603050405020304" pitchFamily="18" charset="0"/>
            </a:endParaRPr>
          </a:p>
        </p:txBody>
      </p:sp>
      <p:sp>
        <p:nvSpPr>
          <p:cNvPr id="7" name="TextBox 7"/>
          <p:cNvSpPr txBox="1"/>
          <p:nvPr/>
        </p:nvSpPr>
        <p:spPr>
          <a:xfrm>
            <a:off x="1143000" y="1676251"/>
            <a:ext cx="14849087" cy="1196225"/>
          </a:xfrm>
          <a:prstGeom prst="rect">
            <a:avLst/>
          </a:prstGeom>
        </p:spPr>
        <p:txBody>
          <a:bodyPr lIns="0" tIns="0" rIns="0" bIns="0" rtlCol="0" anchor="t">
            <a:spAutoFit/>
          </a:bodyPr>
          <a:lstStyle/>
          <a:p>
            <a:pPr lvl="0">
              <a:lnSpc>
                <a:spcPts val="9713"/>
              </a:lnSpc>
            </a:pPr>
            <a:r>
              <a:rPr lang="en-IN" sz="8000" b="1" dirty="0">
                <a:latin typeface="Times New Roman" panose="02020603050405020304" pitchFamily="18" charset="0"/>
                <a:cs typeface="Times New Roman" panose="02020603050405020304" pitchFamily="18" charset="0"/>
              </a:rPr>
              <a:t>Conclusion</a:t>
            </a:r>
            <a:endParaRPr lang="en-US" sz="7897" b="1" dirty="0">
              <a:solidFill>
                <a:srgbClr val="000000"/>
              </a:solidFill>
              <a:latin typeface="Times New Roman" panose="02020603050405020304" pitchFamily="18" charset="0"/>
              <a:ea typeface="Bobby Jones"/>
              <a:cs typeface="Times New Roman" panose="02020603050405020304" pitchFamily="18" charset="0"/>
              <a:sym typeface="Bobby Jones"/>
            </a:endParaRPr>
          </a:p>
        </p:txBody>
      </p:sp>
      <p:sp>
        <p:nvSpPr>
          <p:cNvPr id="8" name="TextBox 8"/>
          <p:cNvSpPr txBox="1"/>
          <p:nvPr/>
        </p:nvSpPr>
        <p:spPr>
          <a:xfrm>
            <a:off x="1028700" y="933450"/>
            <a:ext cx="8818500" cy="887077"/>
          </a:xfrm>
          <a:prstGeom prst="rect">
            <a:avLst/>
          </a:prstGeom>
        </p:spPr>
        <p:txBody>
          <a:bodyPr lIns="0" tIns="0" rIns="0" bIns="0" rtlCol="0" anchor="t">
            <a:spAutoFit/>
          </a:bodyPr>
          <a:lstStyle/>
          <a:p>
            <a:pPr marL="0" lvl="0" indent="0" algn="l">
              <a:lnSpc>
                <a:spcPts val="7279"/>
              </a:lnSpc>
              <a:spcBef>
                <a:spcPct val="0"/>
              </a:spcBef>
            </a:pPr>
            <a:endParaRPr lang="en-US" sz="5199" dirty="0">
              <a:solidFill>
                <a:srgbClr val="000000"/>
              </a:solidFill>
              <a:latin typeface="Sniglet"/>
              <a:ea typeface="Sniglet"/>
              <a:cs typeface="Sniglet"/>
              <a:sym typeface="Snigle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grpSp>
        <p:nvGrpSpPr>
          <p:cNvPr id="2" name="Group 2"/>
          <p:cNvGrpSpPr/>
          <p:nvPr/>
        </p:nvGrpSpPr>
        <p:grpSpPr>
          <a:xfrm>
            <a:off x="490333" y="616771"/>
            <a:ext cx="17256534" cy="9053457"/>
            <a:chOff x="0" y="0"/>
            <a:chExt cx="4544931" cy="2384450"/>
          </a:xfrm>
        </p:grpSpPr>
        <p:sp>
          <p:nvSpPr>
            <p:cNvPr id="3" name="Freeform 3"/>
            <p:cNvSpPr/>
            <p:nvPr/>
          </p:nvSpPr>
          <p:spPr>
            <a:xfrm>
              <a:off x="0" y="0"/>
              <a:ext cx="4544931" cy="2384450"/>
            </a:xfrm>
            <a:custGeom>
              <a:avLst/>
              <a:gdLst/>
              <a:ahLst/>
              <a:cxnLst/>
              <a:rect l="l" t="t" r="r" b="b"/>
              <a:pathLst>
                <a:path w="4544931" h="2384450">
                  <a:moveTo>
                    <a:pt x="11216" y="0"/>
                  </a:moveTo>
                  <a:lnTo>
                    <a:pt x="4533715" y="0"/>
                  </a:lnTo>
                  <a:cubicBezTo>
                    <a:pt x="4539909" y="0"/>
                    <a:pt x="4544931" y="5022"/>
                    <a:pt x="4544931" y="11216"/>
                  </a:cubicBezTo>
                  <a:lnTo>
                    <a:pt x="4544931" y="2373234"/>
                  </a:lnTo>
                  <a:cubicBezTo>
                    <a:pt x="4544931" y="2376208"/>
                    <a:pt x="4543749" y="2379061"/>
                    <a:pt x="4541646" y="2381165"/>
                  </a:cubicBezTo>
                  <a:cubicBezTo>
                    <a:pt x="4539542" y="2383268"/>
                    <a:pt x="4536689" y="2384450"/>
                    <a:pt x="4533715" y="2384450"/>
                  </a:cubicBezTo>
                  <a:lnTo>
                    <a:pt x="11216" y="2384450"/>
                  </a:lnTo>
                  <a:cubicBezTo>
                    <a:pt x="5022" y="2384450"/>
                    <a:pt x="0" y="2379428"/>
                    <a:pt x="0" y="2373234"/>
                  </a:cubicBezTo>
                  <a:lnTo>
                    <a:pt x="0" y="11216"/>
                  </a:lnTo>
                  <a:cubicBezTo>
                    <a:pt x="0" y="5022"/>
                    <a:pt x="5022" y="0"/>
                    <a:pt x="11216" y="0"/>
                  </a:cubicBezTo>
                  <a:close/>
                </a:path>
              </a:pathLst>
            </a:custGeom>
            <a:solidFill>
              <a:srgbClr val="FFFFFF"/>
            </a:solidFill>
          </p:spPr>
        </p:sp>
        <p:sp>
          <p:nvSpPr>
            <p:cNvPr id="4" name="TextBox 4"/>
            <p:cNvSpPr txBox="1"/>
            <p:nvPr/>
          </p:nvSpPr>
          <p:spPr>
            <a:xfrm>
              <a:off x="0" y="-38100"/>
              <a:ext cx="4544931" cy="242255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286438" y="1638300"/>
            <a:ext cx="14090572" cy="1165384"/>
          </a:xfrm>
          <a:prstGeom prst="rect">
            <a:avLst/>
          </a:prstGeom>
        </p:spPr>
        <p:txBody>
          <a:bodyPr lIns="0" tIns="0" rIns="0" bIns="0" rtlCol="0" anchor="t">
            <a:spAutoFit/>
          </a:bodyPr>
          <a:lstStyle/>
          <a:p>
            <a:pPr marL="0" lvl="0" indent="0" algn="l">
              <a:lnSpc>
                <a:spcPts val="9713"/>
              </a:lnSpc>
            </a:pPr>
            <a:r>
              <a:rPr lang="en-US" sz="8000" b="1" dirty="0">
                <a:solidFill>
                  <a:srgbClr val="000000"/>
                </a:solidFill>
                <a:latin typeface="Times New Roman" panose="02020603050405020304" pitchFamily="18" charset="0"/>
                <a:ea typeface="Bobby Jones"/>
                <a:cs typeface="Times New Roman" panose="02020603050405020304" pitchFamily="18" charset="0"/>
                <a:sym typeface="Bobby Jones"/>
              </a:rPr>
              <a:t>REFERENCE</a:t>
            </a:r>
          </a:p>
        </p:txBody>
      </p:sp>
      <p:sp>
        <p:nvSpPr>
          <p:cNvPr id="7" name="TextBox 7"/>
          <p:cNvSpPr txBox="1"/>
          <p:nvPr/>
        </p:nvSpPr>
        <p:spPr>
          <a:xfrm>
            <a:off x="1286438" y="3565684"/>
            <a:ext cx="16257638" cy="5016758"/>
          </a:xfrm>
          <a:prstGeom prst="rect">
            <a:avLst/>
          </a:prstGeom>
        </p:spPr>
        <p:txBody>
          <a:bodyPr wrap="square" lIns="0" tIns="0" rIns="0" bIns="0" rtlCol="0" anchor="t">
            <a:spAutoFit/>
          </a:bodyPr>
          <a:lstStyle/>
          <a:p>
            <a:pPr marL="457200" indent="-457200">
              <a:buFont typeface="Wingdings" pitchFamily="2" charset="2"/>
              <a:buChar char="Ø"/>
            </a:pPr>
            <a:r>
              <a:rPr lang="en-IN" sz="3200" dirty="0"/>
              <a:t>Craig Gentry, </a:t>
            </a:r>
            <a:r>
              <a:rPr lang="en-IN" sz="3200" i="1" dirty="0"/>
              <a:t>“Fully </a:t>
            </a:r>
            <a:r>
              <a:rPr lang="en-IN" sz="3200" i="1" dirty="0" err="1"/>
              <a:t>Homomorphic</a:t>
            </a:r>
            <a:r>
              <a:rPr lang="en-IN" sz="3200" i="1" dirty="0"/>
              <a:t> Encryption Using Ideal Lattices,”</a:t>
            </a:r>
            <a:r>
              <a:rPr lang="en-IN" sz="3200" dirty="0"/>
              <a:t> STOC, 2009.</a:t>
            </a:r>
          </a:p>
          <a:p>
            <a:pPr marL="457200" indent="-457200">
              <a:buFont typeface="Wingdings" pitchFamily="2" charset="2"/>
              <a:buChar char="Ø"/>
            </a:pPr>
            <a:r>
              <a:rPr lang="en-IN" sz="3200" dirty="0" err="1"/>
              <a:t>Cheon</a:t>
            </a:r>
            <a:r>
              <a:rPr lang="en-IN" sz="3200" dirty="0"/>
              <a:t>, J.H., Kim, A., Kim, M., Song, Y. (2017). </a:t>
            </a:r>
            <a:r>
              <a:rPr lang="en-IN" sz="3200" i="1" dirty="0"/>
              <a:t>“</a:t>
            </a:r>
            <a:r>
              <a:rPr lang="en-IN" sz="3200" i="1" dirty="0" err="1"/>
              <a:t>Homomorphic</a:t>
            </a:r>
            <a:r>
              <a:rPr lang="en-IN" sz="3200" i="1" dirty="0"/>
              <a:t> Encryption for Arithmetic of Approximate Numbers (CKKS Scheme),”</a:t>
            </a:r>
            <a:r>
              <a:rPr lang="en-IN" sz="3200" dirty="0"/>
              <a:t> ASIACRYPT.</a:t>
            </a:r>
          </a:p>
          <a:p>
            <a:pPr marL="457200" indent="-457200">
              <a:buFont typeface="Wingdings" pitchFamily="2" charset="2"/>
              <a:buChar char="Ø"/>
            </a:pPr>
            <a:r>
              <a:rPr lang="en-IN" sz="3200" dirty="0"/>
              <a:t>Microsoft Research, </a:t>
            </a:r>
            <a:r>
              <a:rPr lang="en-IN" sz="3200" i="1" dirty="0"/>
              <a:t>“</a:t>
            </a:r>
            <a:r>
              <a:rPr lang="en-IN" sz="3200" i="1" dirty="0" err="1"/>
              <a:t>TenSEAL</a:t>
            </a:r>
            <a:r>
              <a:rPr lang="en-IN" sz="3200" i="1" dirty="0"/>
              <a:t>: A Library for </a:t>
            </a:r>
            <a:r>
              <a:rPr lang="en-IN" sz="3200" i="1" dirty="0" err="1"/>
              <a:t>Homomorphic</a:t>
            </a:r>
            <a:r>
              <a:rPr lang="en-IN" sz="3200" i="1" dirty="0"/>
              <a:t> Encryption on Tensor Operations,”</a:t>
            </a:r>
            <a:r>
              <a:rPr lang="en-IN" sz="3200" dirty="0"/>
              <a:t> </a:t>
            </a:r>
            <a:r>
              <a:rPr lang="en-IN" sz="3200" dirty="0" err="1"/>
              <a:t>GitHub</a:t>
            </a:r>
            <a:r>
              <a:rPr lang="en-IN" sz="3200" dirty="0"/>
              <a:t> Repository, 2020.</a:t>
            </a:r>
          </a:p>
          <a:p>
            <a:pPr marL="457200" indent="-457200">
              <a:buFont typeface="Wingdings" pitchFamily="2" charset="2"/>
              <a:buChar char="Ø"/>
            </a:pPr>
            <a:r>
              <a:rPr lang="en-IN" sz="3200" dirty="0" err="1"/>
              <a:t>Alabdulatif</a:t>
            </a:r>
            <a:r>
              <a:rPr lang="en-IN" sz="3200" dirty="0"/>
              <a:t>, A., et al. (2021). </a:t>
            </a:r>
            <a:r>
              <a:rPr lang="en-IN" sz="3200" i="1" dirty="0"/>
              <a:t>“Privacy-Preserving Data Aggregation for Cloud-Assisted </a:t>
            </a:r>
            <a:r>
              <a:rPr lang="en-IN" sz="3200" i="1" dirty="0" err="1"/>
              <a:t>IoT</a:t>
            </a:r>
            <a:r>
              <a:rPr lang="en-IN" sz="3200" i="1" dirty="0"/>
              <a:t> Applications Using </a:t>
            </a:r>
            <a:r>
              <a:rPr lang="en-IN" sz="3200" i="1" dirty="0" err="1"/>
              <a:t>Homomorphic</a:t>
            </a:r>
            <a:r>
              <a:rPr lang="en-IN" sz="3200" i="1" dirty="0"/>
              <a:t> Encryption.”</a:t>
            </a:r>
            <a:endParaRPr lang="en-IN" sz="3200" dirty="0"/>
          </a:p>
          <a:p>
            <a:pPr marL="457200" indent="-457200">
              <a:buFont typeface="Wingdings" pitchFamily="2" charset="2"/>
              <a:buChar char="Ø"/>
            </a:pPr>
            <a:r>
              <a:rPr lang="en-IN" sz="3200" dirty="0"/>
              <a:t>Base Paper: </a:t>
            </a:r>
            <a:r>
              <a:rPr lang="en-IN" sz="3200" i="1" dirty="0"/>
              <a:t>“Privacy Preserving Data Sharing through Multi-Cloud using </a:t>
            </a:r>
            <a:r>
              <a:rPr lang="en-IN" sz="3200" i="1" dirty="0" err="1"/>
              <a:t>Homomorphic</a:t>
            </a:r>
            <a:r>
              <a:rPr lang="en-IN" sz="3200" i="1" dirty="0"/>
              <a:t> Encryption.”</a:t>
            </a:r>
            <a:endParaRPr lang="en-IN" sz="3200" dirty="0"/>
          </a:p>
          <a:p>
            <a:pPr lvl="0">
              <a:lnSpc>
                <a:spcPct val="150000"/>
              </a:lnSpc>
              <a:spcBef>
                <a:spcPct val="0"/>
              </a:spcBef>
            </a:pPr>
            <a:endParaRPr lang="en-US" sz="2800" dirty="0">
              <a:solidFill>
                <a:srgbClr val="000000"/>
              </a:solidFill>
              <a:latin typeface="Sniglet"/>
              <a:ea typeface="Sniglet"/>
              <a:cs typeface="Sniglet"/>
              <a:sym typeface="Snigle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grpSp>
        <p:nvGrpSpPr>
          <p:cNvPr id="2" name="Group 2"/>
          <p:cNvGrpSpPr/>
          <p:nvPr/>
        </p:nvGrpSpPr>
        <p:grpSpPr>
          <a:xfrm>
            <a:off x="1142999" y="1409700"/>
            <a:ext cx="16230601" cy="7696200"/>
            <a:chOff x="0" y="0"/>
            <a:chExt cx="4544931" cy="2384450"/>
          </a:xfrm>
        </p:grpSpPr>
        <p:sp>
          <p:nvSpPr>
            <p:cNvPr id="3" name="Freeform 3"/>
            <p:cNvSpPr/>
            <p:nvPr/>
          </p:nvSpPr>
          <p:spPr>
            <a:xfrm>
              <a:off x="0" y="0"/>
              <a:ext cx="4544931" cy="2384450"/>
            </a:xfrm>
            <a:custGeom>
              <a:avLst/>
              <a:gdLst/>
              <a:ahLst/>
              <a:cxnLst/>
              <a:rect l="l" t="t" r="r" b="b"/>
              <a:pathLst>
                <a:path w="4544931" h="2384450">
                  <a:moveTo>
                    <a:pt x="11216" y="0"/>
                  </a:moveTo>
                  <a:lnTo>
                    <a:pt x="4533715" y="0"/>
                  </a:lnTo>
                  <a:cubicBezTo>
                    <a:pt x="4539909" y="0"/>
                    <a:pt x="4544931" y="5022"/>
                    <a:pt x="4544931" y="11216"/>
                  </a:cubicBezTo>
                  <a:lnTo>
                    <a:pt x="4544931" y="2373234"/>
                  </a:lnTo>
                  <a:cubicBezTo>
                    <a:pt x="4544931" y="2376208"/>
                    <a:pt x="4543749" y="2379061"/>
                    <a:pt x="4541646" y="2381165"/>
                  </a:cubicBezTo>
                  <a:cubicBezTo>
                    <a:pt x="4539542" y="2383268"/>
                    <a:pt x="4536689" y="2384450"/>
                    <a:pt x="4533715" y="2384450"/>
                  </a:cubicBezTo>
                  <a:lnTo>
                    <a:pt x="11216" y="2384450"/>
                  </a:lnTo>
                  <a:cubicBezTo>
                    <a:pt x="5022" y="2384450"/>
                    <a:pt x="0" y="2379428"/>
                    <a:pt x="0" y="2373234"/>
                  </a:cubicBezTo>
                  <a:lnTo>
                    <a:pt x="0" y="11216"/>
                  </a:lnTo>
                  <a:cubicBezTo>
                    <a:pt x="0" y="5022"/>
                    <a:pt x="5022" y="0"/>
                    <a:pt x="11216" y="0"/>
                  </a:cubicBezTo>
                  <a:close/>
                </a:path>
              </a:pathLst>
            </a:custGeom>
            <a:solidFill>
              <a:srgbClr val="FFFFFF"/>
            </a:solidFill>
          </p:spPr>
        </p:sp>
        <p:sp>
          <p:nvSpPr>
            <p:cNvPr id="4" name="TextBox 4"/>
            <p:cNvSpPr txBox="1"/>
            <p:nvPr/>
          </p:nvSpPr>
          <p:spPr>
            <a:xfrm>
              <a:off x="0" y="-38100"/>
              <a:ext cx="4544931" cy="242255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5638800" y="4689162"/>
            <a:ext cx="8534400" cy="1243930"/>
          </a:xfrm>
          <a:prstGeom prst="rect">
            <a:avLst/>
          </a:prstGeom>
        </p:spPr>
        <p:txBody>
          <a:bodyPr wrap="square" lIns="0" tIns="0" rIns="0" bIns="0" rtlCol="0" anchor="t">
            <a:spAutoFit/>
          </a:bodyPr>
          <a:lstStyle/>
          <a:p>
            <a:pPr marL="0" lvl="0" indent="0" algn="l">
              <a:lnSpc>
                <a:spcPts val="9713"/>
              </a:lnSpc>
            </a:pPr>
            <a:r>
              <a:rPr lang="en-US" sz="9600" dirty="0">
                <a:solidFill>
                  <a:srgbClr val="000000"/>
                </a:solidFill>
                <a:latin typeface="Bobby Jones"/>
                <a:ea typeface="Bobby Jones"/>
                <a:cs typeface="Bobby Jones"/>
                <a:sym typeface="Bobby Jones"/>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2133</TotalTime>
  <Words>1150</Words>
  <Application>Microsoft Office PowerPoint</Application>
  <PresentationFormat>Custom</PresentationFormat>
  <Paragraphs>107</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Calibri</vt:lpstr>
      <vt:lpstr>Arial Unicode MS</vt:lpstr>
      <vt:lpstr>Bobby Jones</vt:lpstr>
      <vt:lpstr>Wingdings</vt:lpstr>
      <vt:lpstr>Arial</vt:lpstr>
      <vt:lpstr>Sniglet</vt:lpstr>
      <vt:lpstr>Times New Roman</vt:lpstr>
      <vt:lpstr>Office Theme</vt:lpstr>
      <vt:lpstr>KAKATIYA INSTITUTE OF TECHNOLOGY &amp; SCIENCE,WARANGAL (An AUTONOMOUS Institute under KAKATIYA UNIVERSITY – Warangal) Opp :Yerragattu Gutta, Hasanparthy,Warangal-506015, Telangana, INDIA.           DEPARTMENT OF COMPUTER SCIENCE &amp; ENGINEERING(NETWORKS)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 Text Magic Studio Magic Design for Presentations L&amp;P</dc:title>
  <dc:creator>Sai Charan Varma</dc:creator>
  <cp:lastModifiedBy>Narendar Bommera</cp:lastModifiedBy>
  <cp:revision>148</cp:revision>
  <dcterms:created xsi:type="dcterms:W3CDTF">2006-08-16T00:00:00Z</dcterms:created>
  <dcterms:modified xsi:type="dcterms:W3CDTF">2026-05-16T22:54:47Z</dcterms:modified>
  <dc:identifier>DAGz8WJWam4</dc:identifier>
</cp:coreProperties>
</file>